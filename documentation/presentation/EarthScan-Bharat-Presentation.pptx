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4A2C"/>
                </a:solidFill>
                <a:latin typeface="Calibri"/>
              </a:defRPr>
            </a:pPr>
            <a:r>
              <a:rPr sz="1300" b="0" i="0" u="none" strike="noStrike">
                <a:solidFill>
                  <a:srgbClr val="1F4A2C"/>
                </a:solidFill>
                <a:latin typeface="Calibri"/>
              </a:rPr>
              <a:t>Land Intelligence Score — component weights (%)</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1F4A2C"/>
            </a:solidFill>
            <a:effectLst/>
          </c:spPr>
          <c:invertIfNegative val="0"/>
          <c:dLbls>
            <c:numFmt formatCode="#,##0" sourceLinked="0"/>
            <c:txPr>
              <a:bodyPr/>
              <a:lstStyle/>
              <a:p>
                <a:pPr>
                  <a:defRPr b="0" i="0" strike="noStrike" sz="1100" u="none">
                    <a:solidFill>
                      <a:srgbClr val="24261F"/>
                    </a:solidFill>
                    <a:latin typeface="Calibri"/>
                  </a:defRPr>
                </a:pPr>
              </a:p>
            </c:txPr>
            <c:showLegendKey val="0"/>
            <c:showVal val="1"/>
            <c:showCatName val="0"/>
            <c:showSerName val="0"/>
            <c:showPercent val="0"/>
            <c:showBubbleSize val="0"/>
            <c:showLeaderLines val="0"/>
          </c:dLbls>
          <c:dPt>
            <c:idx val="0"/>
            <c:invertIfNegative val="0"/>
            <c:bubble3D val="0"/>
            <c:spPr>
              <a:solidFill>
                <a:srgbClr val="1F4A2C"/>
              </a:solidFill>
              <a:effectLst/>
            </c:spPr>
          </c:dPt>
          <c:dPt>
            <c:idx val="1"/>
            <c:invertIfNegative val="0"/>
            <c:bubble3D val="0"/>
            <c:spPr>
              <a:solidFill>
                <a:srgbClr val="1F4A2C"/>
              </a:solidFill>
              <a:effectLst/>
            </c:spPr>
          </c:dPt>
          <c:dPt>
            <c:idx val="2"/>
            <c:invertIfNegative val="0"/>
            <c:bubble3D val="0"/>
            <c:spPr>
              <a:solidFill>
                <a:srgbClr val="97BC62"/>
              </a:solidFill>
              <a:effectLst/>
            </c:spPr>
          </c:dPt>
          <c:dPt>
            <c:idx val="3"/>
            <c:invertIfNegative val="0"/>
            <c:bubble3D val="0"/>
            <c:spPr>
              <a:solidFill>
                <a:srgbClr val="97BC62"/>
              </a:solidFill>
              <a:effectLst/>
            </c:spPr>
          </c:dPt>
          <c:dPt>
            <c:idx val="4"/>
            <c:invertIfNegative val="0"/>
            <c:bubble3D val="0"/>
            <c:spPr>
              <a:solidFill>
                <a:srgbClr val="8A5A34"/>
              </a:solidFill>
              <a:effectLst/>
            </c:spPr>
          </c:dPt>
          <c:cat>
            <c:multiLvlStrRef>
              <c:f>Sheet1!$A$2:$A$6</c:f>
              <c:multiLvlStrCache>
                <c:ptCount val="5"/>
                <c:lvl>
                  <c:pt idx="0">
                    <c:v>Soil fertility</c:v>
                  </c:pt>
                  <c:pt idx="1">
                    <c:v>Water access</c:v>
                  </c:pt>
                  <c:pt idx="2">
                    <c:v>Rainfall</c:v>
                  </c:pt>
                  <c:pt idx="3">
                    <c:v>Moisture retention</c:v>
                  </c:pt>
                  <c:pt idx="4">
                    <c:v>Accessibility</c:v>
                  </c:pt>
                </c:lvl>
              </c:multiLvlStrCache>
            </c:multiLvlStrRef>
          </c:cat>
          <c:val>
            <c:numRef>
              <c:f>Sheet1!$B$2:$B$6</c:f>
              <c:numCache>
                <c:formatCode>General</c:formatCode>
                <c:ptCount val="5"/>
                <c:pt idx="0">
                  <c:v>30</c:v>
                </c:pt>
                <c:pt idx="1">
                  <c:v>30</c:v>
                </c:pt>
                <c:pt idx="2">
                  <c:v>15</c:v>
                </c:pt>
                <c:pt idx="3">
                  <c:v>15</c:v>
                </c:pt>
                <c:pt idx="4">
                  <c:v>10</c:v>
                </c:pt>
              </c:numCache>
            </c:numRef>
          </c:val>
        </c:ser>
        <c:dLbls>
          <c:numFmt formatCode="#,##0" sourceLinked="0"/>
          <c:txPr>
            <a:bodyPr/>
            <a:lstStyle/>
            <a:p>
              <a:pPr>
                <a:defRPr b="0" i="0" strike="noStrike" sz="1100" u="none">
                  <a:solidFill>
                    <a:srgbClr val="2426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4261F"/>
                </a:solidFill>
                <a:latin typeface="Calibri"/>
              </a:defRPr>
            </a:pPr>
            <a:endParaRPr lang="en-US"/>
          </a:p>
        </c:txPr>
        <c:crossAx val="2094734552"/>
        <c:crosses val="autoZero"/>
        <c:auto val="1"/>
        <c:lblAlgn val="ctr"/>
        <c:noMultiLvlLbl val="1"/>
      </c:catAx>
      <c:valAx>
        <c:axId val="2094734552"/>
        <c:scaling>
          <c:orientation val="minMax"/>
          <c:max val="40"/>
        </c:scaling>
        <c:delete val="0"/>
        <c:axPos val="b"/>
        <c:majorGridlines>
          <c:spPr>
            <a:ln w="12700" cap="flat">
              <a:solidFill>
                <a:srgbClr val="E2E2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15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F4A2C"/>
                </a:solidFill>
                <a:latin typeface="Calibri"/>
              </a:defRPr>
            </a:pPr>
            <a:r>
              <a:rPr sz="1250" b="0" i="0" u="none" strike="noStrike">
                <a:solidFill>
                  <a:srgbClr val="1F4A2C"/>
                </a:solidFill>
                <a:latin typeface="Calibri"/>
              </a:rPr>
              <a:t>Estimated borewell success probability (%) by depth to water table</a:t>
            </a:r>
          </a:p>
        </c:rich>
      </c:tx>
      <c:layout/>
      <c:overlay val="0"/>
    </c:title>
    <c:autoTitleDeleted val="0"/>
    <c:plotArea>
      <c:layout/>
      <c:lineChart>
        <c:varyColors val="0"/>
        <c:ser>
          <c:idx val="0"/>
          <c:order val="0"/>
          <c:tx>
            <c:strRef>
              <c:f>Sheet1!$B$1</c:f>
              <c:strCache>
                <c:ptCount val="1"/>
                <c:pt idx="0">
                  <c:v>Before — three buckets</c:v>
                </c:pt>
              </c:strCache>
            </c:strRef>
          </c:tx>
          <c:spPr>
            <a:solidFill>
              <a:srgbClr val="C1502E"/>
            </a:solidFill>
            <a:ln w="38100" cap="flat">
              <a:solidFill>
                <a:srgbClr val="C15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1502E"/>
              </a:solidFill>
              <a:ln w="9525" cap="flat">
                <a:solidFill>
                  <a:srgbClr val="C1502E"/>
                </a:solidFill>
                <a:prstDash val="solid"/>
                <a:round/>
              </a:ln>
              <a:effectLst/>
            </c:spPr>
          </c:marker>
          <c:cat>
            <c:multiLvlStrRef>
              <c:f>Sheet1!$A$2:$A$9</c:f>
              <c:multiLvlStrCache>
                <c:ptCount val="8"/>
                <c:lvl>
                  <c:pt idx="0">
                    <c:v>10m</c:v>
                  </c:pt>
                  <c:pt idx="1">
                    <c:v>30m</c:v>
                  </c:pt>
                  <c:pt idx="2">
                    <c:v>50m</c:v>
                  </c:pt>
                  <c:pt idx="3">
                    <c:v>75m</c:v>
                  </c:pt>
                  <c:pt idx="4">
                    <c:v>100m</c:v>
                  </c:pt>
                  <c:pt idx="5">
                    <c:v>150m</c:v>
                  </c:pt>
                  <c:pt idx="6">
                    <c:v>200m</c:v>
                  </c:pt>
                  <c:pt idx="7">
                    <c:v>250m</c:v>
                  </c:pt>
                </c:lvl>
              </c:multiLvlStrCache>
            </c:multiLvlStrRef>
          </c:cat>
          <c:val>
            <c:numRef>
              <c:f>Sheet1!$B$2:$B$9</c:f>
              <c:numCache>
                <c:formatCode>General</c:formatCode>
                <c:ptCount val="8"/>
                <c:pt idx="0">
                  <c:v>90</c:v>
                </c:pt>
                <c:pt idx="1">
                  <c:v>90</c:v>
                </c:pt>
                <c:pt idx="2">
                  <c:v>65</c:v>
                </c:pt>
                <c:pt idx="3">
                  <c:v>65</c:v>
                </c:pt>
                <c:pt idx="4">
                  <c:v>30</c:v>
                </c:pt>
                <c:pt idx="5">
                  <c:v>30</c:v>
                </c:pt>
                <c:pt idx="6">
                  <c:v>30</c:v>
                </c:pt>
                <c:pt idx="7">
                  <c:v>30</c:v>
                </c:pt>
              </c:numCache>
            </c:numRef>
          </c:val>
          <c:smooth val="0"/>
        </c:ser>
        <c:ser>
          <c:idx val="1"/>
          <c:order val="1"/>
          <c:tx>
            <c:strRef>
              <c:f>Sheet1!$C$1</c:f>
              <c:strCache>
                <c:ptCount val="1"/>
                <c:pt idx="0">
                  <c:v>After — continuous curve</c:v>
                </c:pt>
              </c:strCache>
            </c:strRef>
          </c:tx>
          <c:spPr>
            <a:solidFill>
              <a:srgbClr val="1F4A2C"/>
            </a:solidFill>
            <a:ln w="38100" cap="flat">
              <a:solidFill>
                <a:srgbClr val="1F4A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4A2C"/>
              </a:solidFill>
              <a:ln w="9525" cap="flat">
                <a:solidFill>
                  <a:srgbClr val="1F4A2C"/>
                </a:solidFill>
                <a:prstDash val="solid"/>
                <a:round/>
              </a:ln>
              <a:effectLst/>
            </c:spPr>
          </c:marker>
          <c:cat>
            <c:multiLvlStrRef>
              <c:f>Sheet1!$A$2:$A$9</c:f>
              <c:multiLvlStrCache>
                <c:ptCount val="8"/>
                <c:lvl>
                  <c:pt idx="0">
                    <c:v>10m</c:v>
                  </c:pt>
                  <c:pt idx="1">
                    <c:v>30m</c:v>
                  </c:pt>
                  <c:pt idx="2">
                    <c:v>50m</c:v>
                  </c:pt>
                  <c:pt idx="3">
                    <c:v>75m</c:v>
                  </c:pt>
                  <c:pt idx="4">
                    <c:v>100m</c:v>
                  </c:pt>
                  <c:pt idx="5">
                    <c:v>150m</c:v>
                  </c:pt>
                  <c:pt idx="6">
                    <c:v>200m</c:v>
                  </c:pt>
                  <c:pt idx="7">
                    <c:v>250m</c:v>
                  </c:pt>
                </c:lvl>
              </c:multiLvlStrCache>
            </c:multiLvlStrRef>
          </c:cat>
          <c:val>
            <c:numRef>
              <c:f>Sheet1!$C$2:$C$9</c:f>
              <c:numCache>
                <c:formatCode>General</c:formatCode>
                <c:ptCount val="8"/>
                <c:pt idx="0">
                  <c:v>95</c:v>
                </c:pt>
                <c:pt idx="1">
                  <c:v>95</c:v>
                </c:pt>
                <c:pt idx="2">
                  <c:v>88</c:v>
                </c:pt>
                <c:pt idx="3">
                  <c:v>78</c:v>
                </c:pt>
                <c:pt idx="4">
                  <c:v>69</c:v>
                </c:pt>
                <c:pt idx="5">
                  <c:v>50</c:v>
                </c:pt>
                <c:pt idx="6">
                  <c:v>31</c:v>
                </c:pt>
                <c:pt idx="7">
                  <c:v>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4261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E2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15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4261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of an ASP.NET Core 8 monolith to a Spring Boot microservices platform, keeping the existing React frontend. Four business services plus a gateway and a service registry, two database engines chosen per workload, and RabbitMQ for asynchronous cross-service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premise: buyers and farmers currently assess viability from a seller description and a site visit. The two variables that most determine profitability are both invisible from the surface. All existing user-facing behaviour is preserved; the changes are architectural.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services publish and consume events, but never issue synchronous calls to one another. That is what keeps them independently deployable and independently available — a forum outage does not block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boundary is justified by a real difference in data shape, change rate or availability requirement. notification-service is the one that makes the bus worthwhile: it is a pure consumer, so registration and listing creation never wait on it. The closing note is deliberate — overstating the benefits of microservices at this scale would be dishonest.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exists precisely because layer 1 can be bypassed — a misconfigured security group or a pod inside the cluster. Constant-time login matters more than it looks: without the dummy hash comparison, an unknown email returns in microseconds while a wrong password takes 100ms, and that gap alone lets an attacker enumerate which addresses hold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driven by access patterns, not novelty. Forum threads are read whole and never joined, which is exactly what embedding is for. Users and land data are relational by nature and need exact decimal arithmetic. The cost panel is there because a polyglot choice that only lists benefits is not an honest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schema changes that carry real consequences. The soil one is not cosmetic: a farmer comparing two parcels was getting the same number for materially different land, and the domain knowledge driving that number was trapped in compiled constants.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engine was a base of 50 with flat +20 bumps. Replacing it with declared, normalised weights makes the model auditable — you can state that water access is 30% of the verdict and have the compiler enforce that the weights still sum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assert properties rather than exact values — wetter land never scores worse than drier land, probability never reaches 100. Asserting that a given input yields exactly 73.4 would break on every legitimate recalibration; the properties must hold for any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three consumers behave differently, and that is a domain judgement rather than an inconsistency. A listing goes with its owner. A forum thread is shared context, so anonymise and keep the text — including authorRole, because "an Agriculture Expert said this" is useful provenance. A notification is meaningless without its recipient, so purge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also never fails the caller. The business transaction has already committed by the time we publish, so failing the HTTP request because the broker hiccuped would show the user an error for an operation that actually succeeded — and they would probably retry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concerns live in common-lib and are activated by each service scanning com.earthscan. One subtlety: the JWT filter is deliberately not a @Component, because any bean of type Filter is also auto-registered by Boot outside the security chain and would run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Preserving the response contracts was a deliberate constraint — it is why the login payload still returns {token, user} with role as a display name like "Land Buyer" rather than the canonical LAND_BUYER the database and JWT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column is honest about scope: pushing to GitHub and deploying to AWS need credentials I do not have. Everything needed for both is provided — Dockerfiles, compose, a step-by-step EC2 and ECS walkthrough, and a CI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on purpose. A migration presentation that lists only improvements is not a trustworthy one. The reset-password issue in particular is a genuine account-takeover vector and is called out in four separate places in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The one action item is verifying the build: the code was written without a compiler available, so mvn clean install is the first thing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01C"/>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F4A2C">
              <a:alpha val="65000"/>
            </a:srgbClr>
          </a:solidFill>
          <a:ln/>
        </p:spPr>
      </p:sp>
      <p:sp>
        <p:nvSpPr>
          <p:cNvPr id="3" name="Shape 1"/>
          <p:cNvSpPr/>
          <p:nvPr/>
        </p:nvSpPr>
        <p:spPr>
          <a:xfrm>
            <a:off x="10058400" y="3566160"/>
            <a:ext cx="3840480" cy="3840480"/>
          </a:xfrm>
          <a:prstGeom prst="ellipse">
            <a:avLst/>
          </a:prstGeom>
          <a:solidFill>
            <a:srgbClr val="97BC62">
              <a:alpha val="22000"/>
            </a:srgbClr>
          </a:solidFill>
          <a:ln/>
        </p:spPr>
      </p:sp>
      <p:sp>
        <p:nvSpPr>
          <p:cNvPr id="4" name="Text 2"/>
          <p:cNvSpPr/>
          <p:nvPr/>
        </p:nvSpPr>
        <p:spPr>
          <a:xfrm>
            <a:off x="777240" y="1417320"/>
            <a:ext cx="8229600" cy="274320"/>
          </a:xfrm>
          <a:prstGeom prst="rect">
            <a:avLst/>
          </a:prstGeom>
          <a:noFill/>
          <a:ln/>
        </p:spPr>
        <p:txBody>
          <a:bodyPr wrap="square" lIns="0" tIns="0" rIns="0" bIns="0" rtlCol="0" anchor="ctr"/>
          <a:lstStyle/>
          <a:p>
            <a:pPr indent="0" marL="0">
              <a:buNone/>
            </a:pPr>
            <a:r>
              <a:rPr lang="en-US" sz="1200" b="1" spc="300" kern="0" dirty="0">
                <a:solidFill>
                  <a:srgbClr val="97BC62"/>
                </a:solidFill>
                <a:latin typeface="Calibri" pitchFamily="34" charset="0"/>
                <a:ea typeface="Calibri" pitchFamily="34" charset="-122"/>
                <a:cs typeface="Calibri" pitchFamily="34" charset="-120"/>
              </a:rPr>
              <a:t>MONOLITH → MICROSERVICES MIGRATION</a:t>
            </a:r>
            <a:endParaRPr lang="en-US" sz="1200" dirty="0"/>
          </a:p>
        </p:txBody>
      </p:sp>
      <p:sp>
        <p:nvSpPr>
          <p:cNvPr id="5" name="Text 3"/>
          <p:cNvSpPr/>
          <p:nvPr/>
        </p:nvSpPr>
        <p:spPr>
          <a:xfrm>
            <a:off x="777240" y="182880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EarthScan Bharat</a:t>
            </a:r>
            <a:endParaRPr lang="en-US" sz="5200" dirty="0"/>
          </a:p>
        </p:txBody>
      </p:sp>
      <p:sp>
        <p:nvSpPr>
          <p:cNvPr id="6" name="Text 4"/>
          <p:cNvSpPr/>
          <p:nvPr/>
        </p:nvSpPr>
        <p:spPr>
          <a:xfrm>
            <a:off x="777240" y="2788920"/>
            <a:ext cx="8046720" cy="457200"/>
          </a:xfrm>
          <a:prstGeom prst="rect">
            <a:avLst/>
          </a:prstGeom>
          <a:noFill/>
          <a:ln/>
        </p:spPr>
        <p:txBody>
          <a:bodyPr wrap="square" lIns="0" tIns="0" rIns="0" bIns="0" rtlCol="0" anchor="ctr"/>
          <a:lstStyle/>
          <a:p>
            <a:pPr indent="0" marL="0">
              <a:buNone/>
            </a:pPr>
            <a:r>
              <a:rPr lang="en-US" sz="1900" i="1" dirty="0">
                <a:solidFill>
                  <a:srgbClr val="E8F0DA"/>
                </a:solidFill>
                <a:latin typeface="Cambria" pitchFamily="34" charset="0"/>
                <a:ea typeface="Cambria" pitchFamily="34" charset="-122"/>
                <a:cs typeface="Cambria" pitchFamily="34" charset="-120"/>
              </a:rPr>
              <a:t>Land intelligence and agricultural advisory, rebuilt on Spring Boot</a:t>
            </a:r>
            <a:endParaRPr lang="en-US" sz="1900" dirty="0"/>
          </a:p>
        </p:txBody>
      </p:sp>
      <p:sp>
        <p:nvSpPr>
          <p:cNvPr id="7" name="Text 5"/>
          <p:cNvSpPr/>
          <p:nvPr/>
        </p:nvSpPr>
        <p:spPr>
          <a:xfrm>
            <a:off x="777240" y="3977640"/>
            <a:ext cx="1828800" cy="658368"/>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4</a:t>
            </a:r>
            <a:endParaRPr lang="en-US" sz="4400" dirty="0"/>
          </a:p>
        </p:txBody>
      </p:sp>
      <p:sp>
        <p:nvSpPr>
          <p:cNvPr id="8" name="Text 6"/>
          <p:cNvSpPr/>
          <p:nvPr/>
        </p:nvSpPr>
        <p:spPr>
          <a:xfrm>
            <a:off x="777240" y="4645152"/>
            <a:ext cx="1828800" cy="457200"/>
          </a:xfrm>
          <a:prstGeom prst="rect">
            <a:avLst/>
          </a:prstGeom>
          <a:noFill/>
          <a:ln/>
        </p:spPr>
        <p:txBody>
          <a:bodyPr wrap="square" lIns="0" tIns="0" rIns="0" bIns="0" rtlCol="0" anchor="ctr"/>
          <a:lstStyle/>
          <a:p>
            <a:pPr indent="0" marL="0">
              <a:buNone/>
            </a:pPr>
            <a:r>
              <a:rPr lang="en-US" sz="1200" dirty="0">
                <a:solidFill>
                  <a:srgbClr val="C9D6B5"/>
                </a:solidFill>
                <a:latin typeface="Calibri" pitchFamily="34" charset="0"/>
                <a:ea typeface="Calibri" pitchFamily="34" charset="-122"/>
                <a:cs typeface="Calibri" pitchFamily="34" charset="-120"/>
              </a:rPr>
              <a:t>business services</a:t>
            </a:r>
            <a:endParaRPr lang="en-US" sz="1200" dirty="0"/>
          </a:p>
        </p:txBody>
      </p:sp>
      <p:sp>
        <p:nvSpPr>
          <p:cNvPr id="9" name="Text 7"/>
          <p:cNvSpPr/>
          <p:nvPr/>
        </p:nvSpPr>
        <p:spPr>
          <a:xfrm>
            <a:off x="2834640" y="3977640"/>
            <a:ext cx="1828800" cy="658368"/>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2</a:t>
            </a:r>
            <a:endParaRPr lang="en-US" sz="4400" dirty="0"/>
          </a:p>
        </p:txBody>
      </p:sp>
      <p:sp>
        <p:nvSpPr>
          <p:cNvPr id="10" name="Text 8"/>
          <p:cNvSpPr/>
          <p:nvPr/>
        </p:nvSpPr>
        <p:spPr>
          <a:xfrm>
            <a:off x="2834640" y="4645152"/>
            <a:ext cx="1828800" cy="457200"/>
          </a:xfrm>
          <a:prstGeom prst="rect">
            <a:avLst/>
          </a:prstGeom>
          <a:noFill/>
          <a:ln/>
        </p:spPr>
        <p:txBody>
          <a:bodyPr wrap="square" lIns="0" tIns="0" rIns="0" bIns="0" rtlCol="0" anchor="ctr"/>
          <a:lstStyle/>
          <a:p>
            <a:pPr indent="0" marL="0">
              <a:buNone/>
            </a:pPr>
            <a:r>
              <a:rPr lang="en-US" sz="1200" dirty="0">
                <a:solidFill>
                  <a:srgbClr val="C9D6B5"/>
                </a:solidFill>
                <a:latin typeface="Calibri" pitchFamily="34" charset="0"/>
                <a:ea typeface="Calibri" pitchFamily="34" charset="-122"/>
                <a:cs typeface="Calibri" pitchFamily="34" charset="-120"/>
              </a:rPr>
              <a:t>database engines</a:t>
            </a:r>
            <a:endParaRPr lang="en-US" sz="1200" dirty="0"/>
          </a:p>
        </p:txBody>
      </p:sp>
      <p:sp>
        <p:nvSpPr>
          <p:cNvPr id="11" name="Text 9"/>
          <p:cNvSpPr/>
          <p:nvPr/>
        </p:nvSpPr>
        <p:spPr>
          <a:xfrm>
            <a:off x="4892040" y="3977640"/>
            <a:ext cx="1828800" cy="658368"/>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6</a:t>
            </a:r>
            <a:endParaRPr lang="en-US" sz="4400" dirty="0"/>
          </a:p>
        </p:txBody>
      </p:sp>
      <p:sp>
        <p:nvSpPr>
          <p:cNvPr id="12" name="Text 10"/>
          <p:cNvSpPr/>
          <p:nvPr/>
        </p:nvSpPr>
        <p:spPr>
          <a:xfrm>
            <a:off x="4892040" y="4645152"/>
            <a:ext cx="1828800" cy="457200"/>
          </a:xfrm>
          <a:prstGeom prst="rect">
            <a:avLst/>
          </a:prstGeom>
          <a:noFill/>
          <a:ln/>
        </p:spPr>
        <p:txBody>
          <a:bodyPr wrap="square" lIns="0" tIns="0" rIns="0" bIns="0" rtlCol="0" anchor="ctr"/>
          <a:lstStyle/>
          <a:p>
            <a:pPr indent="0" marL="0">
              <a:buNone/>
            </a:pPr>
            <a:r>
              <a:rPr lang="en-US" sz="1200" dirty="0">
                <a:solidFill>
                  <a:srgbClr val="C9D6B5"/>
                </a:solidFill>
                <a:latin typeface="Calibri" pitchFamily="34" charset="0"/>
                <a:ea typeface="Calibri" pitchFamily="34" charset="-122"/>
                <a:cs typeface="Calibri" pitchFamily="34" charset="-120"/>
              </a:rPr>
              <a:t>domain events</a:t>
            </a:r>
            <a:endParaRPr lang="en-US" sz="1200" dirty="0"/>
          </a:p>
        </p:txBody>
      </p:sp>
      <p:sp>
        <p:nvSpPr>
          <p:cNvPr id="13" name="Text 11"/>
          <p:cNvSpPr/>
          <p:nvPr/>
        </p:nvSpPr>
        <p:spPr>
          <a:xfrm>
            <a:off x="6949440" y="3977640"/>
            <a:ext cx="1828800" cy="658368"/>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8</a:t>
            </a:r>
            <a:endParaRPr lang="en-US" sz="4400" dirty="0"/>
          </a:p>
        </p:txBody>
      </p:sp>
      <p:sp>
        <p:nvSpPr>
          <p:cNvPr id="14" name="Text 12"/>
          <p:cNvSpPr/>
          <p:nvPr/>
        </p:nvSpPr>
        <p:spPr>
          <a:xfrm>
            <a:off x="6949440" y="4645152"/>
            <a:ext cx="1828800" cy="457200"/>
          </a:xfrm>
          <a:prstGeom prst="rect">
            <a:avLst/>
          </a:prstGeom>
          <a:noFill/>
          <a:ln/>
        </p:spPr>
        <p:txBody>
          <a:bodyPr wrap="square" lIns="0" tIns="0" rIns="0" bIns="0" rtlCol="0" anchor="ctr"/>
          <a:lstStyle/>
          <a:p>
            <a:pPr indent="0" marL="0">
              <a:buNone/>
            </a:pPr>
            <a:r>
              <a:rPr lang="en-US" sz="1200" dirty="0">
                <a:solidFill>
                  <a:srgbClr val="C9D6B5"/>
                </a:solidFill>
                <a:latin typeface="Calibri" pitchFamily="34" charset="0"/>
                <a:ea typeface="Calibri" pitchFamily="34" charset="-122"/>
                <a:cs typeface="Calibri" pitchFamily="34" charset="-120"/>
              </a:rPr>
              <a:t>test classes</a:t>
            </a:r>
            <a:endParaRPr lang="en-US" sz="1200" dirty="0"/>
          </a:p>
        </p:txBody>
      </p:sp>
      <p:sp>
        <p:nvSpPr>
          <p:cNvPr id="15" name="Text 13"/>
          <p:cNvSpPr/>
          <p:nvPr/>
        </p:nvSpPr>
        <p:spPr>
          <a:xfrm>
            <a:off x="777240" y="5897880"/>
            <a:ext cx="10607040" cy="365760"/>
          </a:xfrm>
          <a:prstGeom prst="rect">
            <a:avLst/>
          </a:prstGeom>
          <a:noFill/>
          <a:ln/>
        </p:spPr>
        <p:txBody>
          <a:bodyPr wrap="square" lIns="0" tIns="0" rIns="0" bIns="0" rtlCol="0" anchor="ctr"/>
          <a:lstStyle/>
          <a:p>
            <a:pPr indent="0" marL="0">
              <a:buNone/>
            </a:pPr>
            <a:r>
              <a:rPr lang="en-US" sz="1100" dirty="0">
                <a:solidFill>
                  <a:srgbClr val="9FB08A"/>
                </a:solidFill>
                <a:latin typeface="Calibri" pitchFamily="34" charset="0"/>
                <a:ea typeface="Calibri" pitchFamily="34" charset="-122"/>
                <a:cs typeface="Calibri" pitchFamily="34" charset="-120"/>
              </a:rPr>
              <a:t>Spring Boot 3.3  ·  Spring Cloud  ·  Spring Security  ·  Spring Data JPA  ·  MySQL  ·  MongoDB  ·  RabbitMQ  ·  React 19  ·  Docker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Two invisible variables decide whether land is farmable</a:t>
            </a:r>
            <a:endParaRPr lang="en-US" sz="3400" dirty="0"/>
          </a:p>
        </p:txBody>
      </p:sp>
      <p:sp>
        <p:nvSpPr>
          <p:cNvPr id="4" name="Shape 2"/>
          <p:cNvSpPr/>
          <p:nvPr/>
        </p:nvSpPr>
        <p:spPr>
          <a:xfrm>
            <a:off x="548640" y="1691640"/>
            <a:ext cx="6766560" cy="1261872"/>
          </a:xfrm>
          <a:prstGeom prst="roundRect">
            <a:avLst>
              <a:gd name="adj" fmla="val 6522"/>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822960" y="2075688"/>
            <a:ext cx="475488" cy="475488"/>
          </a:xfrm>
          <a:prstGeom prst="ellipse">
            <a:avLst/>
          </a:prstGeom>
          <a:solidFill>
            <a:srgbClr val="C1502E"/>
          </a:solidFill>
          <a:ln/>
        </p:spPr>
      </p:sp>
      <p:sp>
        <p:nvSpPr>
          <p:cNvPr id="6" name="Text 4"/>
          <p:cNvSpPr/>
          <p:nvPr/>
        </p:nvSpPr>
        <p:spPr>
          <a:xfrm>
            <a:off x="822960" y="207568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a:t>
            </a:r>
            <a:endParaRPr lang="en-US" sz="2000" dirty="0"/>
          </a:p>
        </p:txBody>
      </p:sp>
      <p:sp>
        <p:nvSpPr>
          <p:cNvPr id="7" name="Text 5"/>
          <p:cNvSpPr/>
          <p:nvPr/>
        </p:nvSpPr>
        <p:spPr>
          <a:xfrm>
            <a:off x="1481328" y="1892808"/>
            <a:ext cx="5577840" cy="329184"/>
          </a:xfrm>
          <a:prstGeom prst="rect">
            <a:avLst/>
          </a:prstGeom>
          <a:noFill/>
          <a:ln/>
        </p:spPr>
        <p:txBody>
          <a:bodyPr wrap="square" lIns="0" tIns="0" rIns="0" bIns="0" rtlCol="0" anchor="ctr"/>
          <a:lstStyle/>
          <a:p>
            <a:pPr indent="0" marL="0">
              <a:buNone/>
            </a:pPr>
            <a:r>
              <a:rPr lang="en-US" sz="1700" b="1" dirty="0">
                <a:solidFill>
                  <a:srgbClr val="1F4A2C"/>
                </a:solidFill>
                <a:latin typeface="Calibri" pitchFamily="34" charset="0"/>
                <a:ea typeface="Calibri" pitchFamily="34" charset="-122"/>
                <a:cs typeface="Calibri" pitchFamily="34" charset="-120"/>
              </a:rPr>
              <a:t>Groundwater depth</a:t>
            </a:r>
            <a:endParaRPr lang="en-US" sz="1700" dirty="0"/>
          </a:p>
        </p:txBody>
      </p:sp>
      <p:sp>
        <p:nvSpPr>
          <p:cNvPr id="8" name="Text 6"/>
          <p:cNvSpPr/>
          <p:nvPr/>
        </p:nvSpPr>
        <p:spPr>
          <a:xfrm>
            <a:off x="1481328" y="2240280"/>
            <a:ext cx="5577840" cy="621792"/>
          </a:xfrm>
          <a:prstGeom prst="rect">
            <a:avLst/>
          </a:prstGeom>
          <a:noFill/>
          <a:ln/>
        </p:spPr>
        <p:txBody>
          <a:bodyPr wrap="square" lIns="0" tIns="0" rIns="0" bIns="0" rtlCol="0" anchor="ctr"/>
          <a:lstStyle/>
          <a:p>
            <a:pPr indent="0" marL="0">
              <a:buNone/>
            </a:pPr>
            <a:r>
              <a:rPr lang="en-US" sz="1250" dirty="0">
                <a:solidFill>
                  <a:srgbClr val="5C6154"/>
                </a:solidFill>
                <a:latin typeface="Calibri" pitchFamily="34" charset="0"/>
                <a:ea typeface="Calibri" pitchFamily="34" charset="-122"/>
                <a:cs typeface="Calibri" pitchFamily="34" charset="-120"/>
              </a:rPr>
              <a:t>How far down water sits determines whether a borewell is viable and what irrigation costs. Nothing about it is visible from the surface.</a:t>
            </a:r>
            <a:endParaRPr lang="en-US" sz="1250" dirty="0"/>
          </a:p>
        </p:txBody>
      </p:sp>
      <p:sp>
        <p:nvSpPr>
          <p:cNvPr id="9" name="Shape 7"/>
          <p:cNvSpPr/>
          <p:nvPr/>
        </p:nvSpPr>
        <p:spPr>
          <a:xfrm>
            <a:off x="548640" y="3172968"/>
            <a:ext cx="6766560" cy="1261872"/>
          </a:xfrm>
          <a:prstGeom prst="roundRect">
            <a:avLst>
              <a:gd name="adj" fmla="val 6522"/>
            </a:avLst>
          </a:prstGeom>
          <a:solidFill>
            <a:srgbClr val="F7F5EF"/>
          </a:solidFill>
          <a:ln/>
          <a:effectLst>
            <a:outerShdw sx="100000" sy="100000" kx="0" ky="0" algn="bl" rotWithShape="0" blurRad="101600" dist="25400" dir="5400000">
              <a:srgbClr val="000000">
                <a:alpha val="14000"/>
              </a:srgbClr>
            </a:outerShdw>
          </a:effectLst>
        </p:spPr>
      </p:sp>
      <p:sp>
        <p:nvSpPr>
          <p:cNvPr id="10" name="Shape 8"/>
          <p:cNvSpPr/>
          <p:nvPr/>
        </p:nvSpPr>
        <p:spPr>
          <a:xfrm>
            <a:off x="822960" y="3557016"/>
            <a:ext cx="475488" cy="475488"/>
          </a:xfrm>
          <a:prstGeom prst="ellipse">
            <a:avLst/>
          </a:prstGeom>
          <a:solidFill>
            <a:srgbClr val="8A5A34"/>
          </a:solidFill>
          <a:ln/>
        </p:spPr>
      </p:sp>
      <p:sp>
        <p:nvSpPr>
          <p:cNvPr id="11" name="Text 9"/>
          <p:cNvSpPr/>
          <p:nvPr/>
        </p:nvSpPr>
        <p:spPr>
          <a:xfrm>
            <a:off x="822960" y="355701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12" name="Text 10"/>
          <p:cNvSpPr/>
          <p:nvPr/>
        </p:nvSpPr>
        <p:spPr>
          <a:xfrm>
            <a:off x="1481328" y="3374136"/>
            <a:ext cx="5577840" cy="329184"/>
          </a:xfrm>
          <a:prstGeom prst="rect">
            <a:avLst/>
          </a:prstGeom>
          <a:noFill/>
          <a:ln/>
        </p:spPr>
        <p:txBody>
          <a:bodyPr wrap="square" lIns="0" tIns="0" rIns="0" bIns="0" rtlCol="0" anchor="ctr"/>
          <a:lstStyle/>
          <a:p>
            <a:pPr indent="0" marL="0">
              <a:buNone/>
            </a:pPr>
            <a:r>
              <a:rPr lang="en-US" sz="1700" b="1" dirty="0">
                <a:solidFill>
                  <a:srgbClr val="1F4A2C"/>
                </a:solidFill>
                <a:latin typeface="Calibri" pitchFamily="34" charset="0"/>
                <a:ea typeface="Calibri" pitchFamily="34" charset="-122"/>
                <a:cs typeface="Calibri" pitchFamily="34" charset="-120"/>
              </a:rPr>
              <a:t>Soil classification</a:t>
            </a:r>
            <a:endParaRPr lang="en-US" sz="1700" dirty="0"/>
          </a:p>
        </p:txBody>
      </p:sp>
      <p:sp>
        <p:nvSpPr>
          <p:cNvPr id="13" name="Text 11"/>
          <p:cNvSpPr/>
          <p:nvPr/>
        </p:nvSpPr>
        <p:spPr>
          <a:xfrm>
            <a:off x="1481328" y="3721608"/>
            <a:ext cx="5577840" cy="621792"/>
          </a:xfrm>
          <a:prstGeom prst="rect">
            <a:avLst/>
          </a:prstGeom>
          <a:noFill/>
          <a:ln/>
        </p:spPr>
        <p:txBody>
          <a:bodyPr wrap="square" lIns="0" tIns="0" rIns="0" bIns="0" rtlCol="0" anchor="ctr"/>
          <a:lstStyle/>
          <a:p>
            <a:pPr indent="0" marL="0">
              <a:buNone/>
            </a:pPr>
            <a:r>
              <a:rPr lang="en-US" sz="1250" dirty="0">
                <a:solidFill>
                  <a:srgbClr val="5C6154"/>
                </a:solidFill>
                <a:latin typeface="Calibri" pitchFamily="34" charset="0"/>
                <a:ea typeface="Calibri" pitchFamily="34" charset="-122"/>
                <a:cs typeface="Calibri" pitchFamily="34" charset="-120"/>
              </a:rPr>
              <a:t>Deep black regur holds roughly twice the moisture of shallow black soil over murum — yet both are sold as "black cotton land".</a:t>
            </a:r>
            <a:endParaRPr lang="en-US" sz="1250" dirty="0"/>
          </a:p>
        </p:txBody>
      </p:sp>
      <p:sp>
        <p:nvSpPr>
          <p:cNvPr id="14" name="Shape 12"/>
          <p:cNvSpPr/>
          <p:nvPr/>
        </p:nvSpPr>
        <p:spPr>
          <a:xfrm>
            <a:off x="7635240" y="1691640"/>
            <a:ext cx="3977640" cy="2880360"/>
          </a:xfrm>
          <a:prstGeom prst="roundRect">
            <a:avLst>
              <a:gd name="adj" fmla="val 2857"/>
            </a:avLst>
          </a:prstGeom>
          <a:solidFill>
            <a:srgbClr val="E8F0DA"/>
          </a:solidFill>
          <a:ln/>
          <a:effectLst>
            <a:outerShdw sx="100000" sy="100000" kx="0" ky="0" algn="bl" rotWithShape="0" blurRad="101600" dist="25400" dir="5400000">
              <a:srgbClr val="000000">
                <a:alpha val="14000"/>
              </a:srgbClr>
            </a:outerShdw>
          </a:effectLst>
        </p:spPr>
      </p:sp>
      <p:sp>
        <p:nvSpPr>
          <p:cNvPr id="15" name="Text 13"/>
          <p:cNvSpPr/>
          <p:nvPr/>
        </p:nvSpPr>
        <p:spPr>
          <a:xfrm>
            <a:off x="7955280" y="1920240"/>
            <a:ext cx="338328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What the platform does</a:t>
            </a:r>
            <a:endParaRPr lang="en-US" sz="1400" dirty="0"/>
          </a:p>
        </p:txBody>
      </p:sp>
      <p:sp>
        <p:nvSpPr>
          <p:cNvPr id="16" name="Text 14"/>
          <p:cNvSpPr/>
          <p:nvPr/>
        </p:nvSpPr>
        <p:spPr>
          <a:xfrm>
            <a:off x="7955280" y="2331720"/>
            <a:ext cx="3337560" cy="20574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Scores every parcel on two axes a buyer can act on</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Benchmarks price per acre against comparable parcels nearby</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Connects farmers to agronomists in a Q&amp;A forum</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Serves English, Hindi and Marathi</a:t>
            </a:r>
            <a:endParaRPr lang="en-US" sz="1200" dirty="0"/>
          </a:p>
        </p:txBody>
      </p:sp>
      <p:sp>
        <p:nvSpPr>
          <p:cNvPr id="17" name="Text 15"/>
          <p:cNvSpPr/>
          <p:nvPr/>
        </p:nvSpPr>
        <p:spPr>
          <a:xfrm>
            <a:off x="548640" y="4846320"/>
            <a:ext cx="11064240" cy="384048"/>
          </a:xfrm>
          <a:prstGeom prst="rect">
            <a:avLst/>
          </a:prstGeom>
          <a:noFill/>
          <a:ln/>
        </p:spPr>
        <p:txBody>
          <a:bodyPr wrap="square" lIns="0" tIns="0" rIns="0" bIns="0" rtlCol="0" anchor="ctr"/>
          <a:lstStyle/>
          <a:p>
            <a:pPr indent="0" marL="0">
              <a:buNone/>
            </a:pPr>
            <a:r>
              <a:rPr lang="en-US" sz="1600" i="1" dirty="0">
                <a:solidFill>
                  <a:srgbClr val="1F4A2C"/>
                </a:solidFill>
                <a:latin typeface="Cambria" pitchFamily="34" charset="0"/>
                <a:ea typeface="Cambria" pitchFamily="34" charset="-122"/>
                <a:cs typeface="Cambria" pitchFamily="34" charset="-120"/>
              </a:rPr>
              <a:t>Four roles: Farmer  ·  Land Buyer  ·  Agriculture Expert  ·  Admin</a:t>
            </a:r>
            <a:endParaRPr lang="en-US" sz="1600" dirty="0"/>
          </a:p>
        </p:txBody>
      </p:sp>
      <p:sp>
        <p:nvSpPr>
          <p:cNvPr id="18" name="Text 16"/>
          <p:cNvSpPr/>
          <p:nvPr/>
        </p:nvSpPr>
        <p:spPr>
          <a:xfrm>
            <a:off x="548640" y="5349240"/>
            <a:ext cx="11064240" cy="457200"/>
          </a:xfrm>
          <a:prstGeom prst="rect">
            <a:avLst/>
          </a:prstGeom>
          <a:noFill/>
          <a:ln/>
        </p:spPr>
        <p:txBody>
          <a:bodyPr wrap="square" lIns="0" tIns="0" rIns="0" bIns="0" rtlCol="0" anchor="ctr"/>
          <a:lstStyle/>
          <a:p>
            <a:pPr indent="0" marL="0">
              <a:buNone/>
            </a:pPr>
            <a:r>
              <a:rPr lang="en-US" sz="1200" dirty="0">
                <a:solidFill>
                  <a:srgbClr val="5C6154"/>
                </a:solidFill>
                <a:latin typeface="Calibri" pitchFamily="34" charset="0"/>
                <a:ea typeface="Calibri" pitchFamily="34" charset="-122"/>
                <a:cs typeface="Calibri" pitchFamily="34" charset="-120"/>
              </a:rPr>
              <a:t>Roughly 3,800 lines of React across 20 pages were already built and are preserved unchanged — the migration is structural, not a rewrite of intent.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Six services, four databases, one entry point</a:t>
            </a:r>
            <a:endParaRPr lang="en-US" sz="3400" dirty="0"/>
          </a:p>
        </p:txBody>
      </p:sp>
      <p:sp>
        <p:nvSpPr>
          <p:cNvPr id="4" name="Shape 2"/>
          <p:cNvSpPr/>
          <p:nvPr/>
        </p:nvSpPr>
        <p:spPr>
          <a:xfrm>
            <a:off x="4480560" y="1481328"/>
            <a:ext cx="3200400" cy="713232"/>
          </a:xfrm>
          <a:prstGeom prst="roundRect">
            <a:avLst>
              <a:gd name="adj" fmla="val 12821"/>
            </a:avLst>
          </a:prstGeom>
          <a:solidFill>
            <a:srgbClr val="24261F"/>
          </a:solidFill>
          <a:ln/>
          <a:effectLst>
            <a:outerShdw sx="100000" sy="100000" kx="0" ky="0" algn="bl" rotWithShape="0" blurRad="101600" dist="25400" dir="5400000">
              <a:srgbClr val="000000">
                <a:alpha val="14000"/>
              </a:srgbClr>
            </a:outerShdw>
          </a:effectLst>
        </p:spPr>
      </p:sp>
      <p:sp>
        <p:nvSpPr>
          <p:cNvPr id="5" name="Text 3"/>
          <p:cNvSpPr/>
          <p:nvPr/>
        </p:nvSpPr>
        <p:spPr>
          <a:xfrm>
            <a:off x="4480560" y="1609344"/>
            <a:ext cx="320040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React 19 + nginx</a:t>
            </a:r>
            <a:endParaRPr lang="en-US" sz="1250" dirty="0"/>
          </a:p>
        </p:txBody>
      </p:sp>
      <p:sp>
        <p:nvSpPr>
          <p:cNvPr id="6" name="Text 4"/>
          <p:cNvSpPr/>
          <p:nvPr/>
        </p:nvSpPr>
        <p:spPr>
          <a:xfrm>
            <a:off x="4480560" y="1901952"/>
            <a:ext cx="320040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port 5173</a:t>
            </a:r>
            <a:endParaRPr lang="en-US" sz="950" dirty="0"/>
          </a:p>
        </p:txBody>
      </p:sp>
      <p:sp>
        <p:nvSpPr>
          <p:cNvPr id="7" name="Shape 5"/>
          <p:cNvSpPr/>
          <p:nvPr/>
        </p:nvSpPr>
        <p:spPr>
          <a:xfrm>
            <a:off x="4480560" y="2487168"/>
            <a:ext cx="3200400" cy="713232"/>
          </a:xfrm>
          <a:prstGeom prst="roundRect">
            <a:avLst>
              <a:gd name="adj" fmla="val 12821"/>
            </a:avLst>
          </a:prstGeom>
          <a:solidFill>
            <a:srgbClr val="1F4A2C"/>
          </a:solidFill>
          <a:ln/>
          <a:effectLst>
            <a:outerShdw sx="100000" sy="100000" kx="0" ky="0" algn="bl" rotWithShape="0" blurRad="101600" dist="25400" dir="5400000">
              <a:srgbClr val="000000">
                <a:alpha val="14000"/>
              </a:srgbClr>
            </a:outerShdw>
          </a:effectLst>
        </p:spPr>
      </p:sp>
      <p:sp>
        <p:nvSpPr>
          <p:cNvPr id="8" name="Text 6"/>
          <p:cNvSpPr/>
          <p:nvPr/>
        </p:nvSpPr>
        <p:spPr>
          <a:xfrm>
            <a:off x="4480560" y="2615184"/>
            <a:ext cx="320040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api-gateway</a:t>
            </a:r>
            <a:endParaRPr lang="en-US" sz="1250" dirty="0"/>
          </a:p>
        </p:txBody>
      </p:sp>
      <p:sp>
        <p:nvSpPr>
          <p:cNvPr id="9" name="Text 7"/>
          <p:cNvSpPr/>
          <p:nvPr/>
        </p:nvSpPr>
        <p:spPr>
          <a:xfrm>
            <a:off x="4480560" y="2907792"/>
            <a:ext cx="3200400" cy="25603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routes · CORS · JWT gate · :8080</a:t>
            </a:r>
            <a:endParaRPr lang="en-US" sz="950" dirty="0"/>
          </a:p>
        </p:txBody>
      </p:sp>
      <p:sp>
        <p:nvSpPr>
          <p:cNvPr id="10" name="Shape 8"/>
          <p:cNvSpPr/>
          <p:nvPr/>
        </p:nvSpPr>
        <p:spPr>
          <a:xfrm>
            <a:off x="658368" y="3529584"/>
            <a:ext cx="2606040" cy="658368"/>
          </a:xfrm>
          <a:prstGeom prst="roundRect">
            <a:avLst>
              <a:gd name="adj" fmla="val 13889"/>
            </a:avLst>
          </a:prstGeom>
          <a:solidFill>
            <a:srgbClr val="97BC62"/>
          </a:solidFill>
          <a:ln/>
          <a:effectLst>
            <a:outerShdw sx="100000" sy="100000" kx="0" ky="0" algn="bl" rotWithShape="0" blurRad="101600" dist="25400" dir="5400000">
              <a:srgbClr val="000000">
                <a:alpha val="14000"/>
              </a:srgbClr>
            </a:outerShdw>
          </a:effectLst>
        </p:spPr>
      </p:sp>
      <p:sp>
        <p:nvSpPr>
          <p:cNvPr id="11" name="Text 9"/>
          <p:cNvSpPr/>
          <p:nvPr/>
        </p:nvSpPr>
        <p:spPr>
          <a:xfrm>
            <a:off x="658368" y="3657600"/>
            <a:ext cx="2606040" cy="292608"/>
          </a:xfrm>
          <a:prstGeom prst="rect">
            <a:avLst/>
          </a:prstGeom>
          <a:noFill/>
          <a:ln/>
        </p:spPr>
        <p:txBody>
          <a:bodyPr wrap="square" lIns="0" tIns="0" rIns="0" bIns="0" rtlCol="0" anchor="ctr"/>
          <a:lstStyle/>
          <a:p>
            <a:pPr algn="ctr" indent="0" marL="0">
              <a:buNone/>
            </a:pPr>
            <a:r>
              <a:rPr lang="en-US" sz="1250" b="1" dirty="0">
                <a:solidFill>
                  <a:srgbClr val="13301C"/>
                </a:solidFill>
                <a:latin typeface="Calibri" pitchFamily="34" charset="0"/>
                <a:ea typeface="Calibri" pitchFamily="34" charset="-122"/>
                <a:cs typeface="Calibri" pitchFamily="34" charset="-120"/>
              </a:rPr>
              <a:t>auth-service</a:t>
            </a:r>
            <a:endParaRPr lang="en-US" sz="1250" dirty="0"/>
          </a:p>
        </p:txBody>
      </p:sp>
      <p:sp>
        <p:nvSpPr>
          <p:cNvPr id="12" name="Text 10"/>
          <p:cNvSpPr/>
          <p:nvPr/>
        </p:nvSpPr>
        <p:spPr>
          <a:xfrm>
            <a:off x="658368" y="3950208"/>
            <a:ext cx="2606040" cy="256032"/>
          </a:xfrm>
          <a:prstGeom prst="rect">
            <a:avLst/>
          </a:prstGeom>
          <a:noFill/>
          <a:ln/>
        </p:spPr>
        <p:txBody>
          <a:bodyPr wrap="square" lIns="0" tIns="0" rIns="0" bIns="0" rtlCol="0" anchor="ctr"/>
          <a:lstStyle/>
          <a:p>
            <a:pPr algn="ctr" indent="0" marL="0">
              <a:buNone/>
            </a:pPr>
            <a:r>
              <a:rPr lang="en-US" sz="950" dirty="0">
                <a:solidFill>
                  <a:srgbClr val="13301C"/>
                </a:solidFill>
                <a:latin typeface="Calibri" pitchFamily="34" charset="0"/>
                <a:ea typeface="Calibri" pitchFamily="34" charset="-122"/>
                <a:cs typeface="Calibri" pitchFamily="34" charset="-120"/>
              </a:rPr>
              <a:t>:8081</a:t>
            </a:r>
            <a:endParaRPr lang="en-US" sz="950" dirty="0"/>
          </a:p>
        </p:txBody>
      </p:sp>
      <p:sp>
        <p:nvSpPr>
          <p:cNvPr id="13" name="Shape 11"/>
          <p:cNvSpPr/>
          <p:nvPr/>
        </p:nvSpPr>
        <p:spPr>
          <a:xfrm>
            <a:off x="3511296" y="3529584"/>
            <a:ext cx="2606040" cy="658368"/>
          </a:xfrm>
          <a:prstGeom prst="roundRect">
            <a:avLst>
              <a:gd name="adj" fmla="val 13889"/>
            </a:avLst>
          </a:prstGeom>
          <a:solidFill>
            <a:srgbClr val="97BC62"/>
          </a:solidFill>
          <a:ln/>
          <a:effectLst>
            <a:outerShdw sx="100000" sy="100000" kx="0" ky="0" algn="bl" rotWithShape="0" blurRad="101600" dist="25400" dir="5400000">
              <a:srgbClr val="000000">
                <a:alpha val="14000"/>
              </a:srgbClr>
            </a:outerShdw>
          </a:effectLst>
        </p:spPr>
      </p:sp>
      <p:sp>
        <p:nvSpPr>
          <p:cNvPr id="14" name="Text 12"/>
          <p:cNvSpPr/>
          <p:nvPr/>
        </p:nvSpPr>
        <p:spPr>
          <a:xfrm>
            <a:off x="3511296" y="3657600"/>
            <a:ext cx="2606040" cy="292608"/>
          </a:xfrm>
          <a:prstGeom prst="rect">
            <a:avLst/>
          </a:prstGeom>
          <a:noFill/>
          <a:ln/>
        </p:spPr>
        <p:txBody>
          <a:bodyPr wrap="square" lIns="0" tIns="0" rIns="0" bIns="0" rtlCol="0" anchor="ctr"/>
          <a:lstStyle/>
          <a:p>
            <a:pPr algn="ctr" indent="0" marL="0">
              <a:buNone/>
            </a:pPr>
            <a:r>
              <a:rPr lang="en-US" sz="1250" b="1" dirty="0">
                <a:solidFill>
                  <a:srgbClr val="13301C"/>
                </a:solidFill>
                <a:latin typeface="Calibri" pitchFamily="34" charset="0"/>
                <a:ea typeface="Calibri" pitchFamily="34" charset="-122"/>
                <a:cs typeface="Calibri" pitchFamily="34" charset="-120"/>
              </a:rPr>
              <a:t>land-service</a:t>
            </a:r>
            <a:endParaRPr lang="en-US" sz="1250" dirty="0"/>
          </a:p>
        </p:txBody>
      </p:sp>
      <p:sp>
        <p:nvSpPr>
          <p:cNvPr id="15" name="Text 13"/>
          <p:cNvSpPr/>
          <p:nvPr/>
        </p:nvSpPr>
        <p:spPr>
          <a:xfrm>
            <a:off x="3511296" y="3950208"/>
            <a:ext cx="2606040" cy="256032"/>
          </a:xfrm>
          <a:prstGeom prst="rect">
            <a:avLst/>
          </a:prstGeom>
          <a:noFill/>
          <a:ln/>
        </p:spPr>
        <p:txBody>
          <a:bodyPr wrap="square" lIns="0" tIns="0" rIns="0" bIns="0" rtlCol="0" anchor="ctr"/>
          <a:lstStyle/>
          <a:p>
            <a:pPr algn="ctr" indent="0" marL="0">
              <a:buNone/>
            </a:pPr>
            <a:r>
              <a:rPr lang="en-US" sz="950" dirty="0">
                <a:solidFill>
                  <a:srgbClr val="13301C"/>
                </a:solidFill>
                <a:latin typeface="Calibri" pitchFamily="34" charset="0"/>
                <a:ea typeface="Calibri" pitchFamily="34" charset="-122"/>
                <a:cs typeface="Calibri" pitchFamily="34" charset="-120"/>
              </a:rPr>
              <a:t>:8082</a:t>
            </a:r>
            <a:endParaRPr lang="en-US" sz="950" dirty="0"/>
          </a:p>
        </p:txBody>
      </p:sp>
      <p:sp>
        <p:nvSpPr>
          <p:cNvPr id="16" name="Shape 14"/>
          <p:cNvSpPr/>
          <p:nvPr/>
        </p:nvSpPr>
        <p:spPr>
          <a:xfrm>
            <a:off x="6364224" y="3529584"/>
            <a:ext cx="2606040" cy="658368"/>
          </a:xfrm>
          <a:prstGeom prst="roundRect">
            <a:avLst>
              <a:gd name="adj" fmla="val 13889"/>
            </a:avLst>
          </a:prstGeom>
          <a:solidFill>
            <a:srgbClr val="97BC62"/>
          </a:solidFill>
          <a:ln/>
          <a:effectLst>
            <a:outerShdw sx="100000" sy="100000" kx="0" ky="0" algn="bl" rotWithShape="0" blurRad="101600" dist="25400" dir="5400000">
              <a:srgbClr val="000000">
                <a:alpha val="14000"/>
              </a:srgbClr>
            </a:outerShdw>
          </a:effectLst>
        </p:spPr>
      </p:sp>
      <p:sp>
        <p:nvSpPr>
          <p:cNvPr id="17" name="Text 15"/>
          <p:cNvSpPr/>
          <p:nvPr/>
        </p:nvSpPr>
        <p:spPr>
          <a:xfrm>
            <a:off x="6364224" y="3657600"/>
            <a:ext cx="2606040" cy="292608"/>
          </a:xfrm>
          <a:prstGeom prst="rect">
            <a:avLst/>
          </a:prstGeom>
          <a:noFill/>
          <a:ln/>
        </p:spPr>
        <p:txBody>
          <a:bodyPr wrap="square" lIns="0" tIns="0" rIns="0" bIns="0" rtlCol="0" anchor="ctr"/>
          <a:lstStyle/>
          <a:p>
            <a:pPr algn="ctr" indent="0" marL="0">
              <a:buNone/>
            </a:pPr>
            <a:r>
              <a:rPr lang="en-US" sz="1250" b="1" dirty="0">
                <a:solidFill>
                  <a:srgbClr val="13301C"/>
                </a:solidFill>
                <a:latin typeface="Calibri" pitchFamily="34" charset="0"/>
                <a:ea typeface="Calibri" pitchFamily="34" charset="-122"/>
                <a:cs typeface="Calibri" pitchFamily="34" charset="-120"/>
              </a:rPr>
              <a:t>forum-service</a:t>
            </a:r>
            <a:endParaRPr lang="en-US" sz="1250" dirty="0"/>
          </a:p>
        </p:txBody>
      </p:sp>
      <p:sp>
        <p:nvSpPr>
          <p:cNvPr id="18" name="Text 16"/>
          <p:cNvSpPr/>
          <p:nvPr/>
        </p:nvSpPr>
        <p:spPr>
          <a:xfrm>
            <a:off x="6364224" y="3950208"/>
            <a:ext cx="2606040" cy="256032"/>
          </a:xfrm>
          <a:prstGeom prst="rect">
            <a:avLst/>
          </a:prstGeom>
          <a:noFill/>
          <a:ln/>
        </p:spPr>
        <p:txBody>
          <a:bodyPr wrap="square" lIns="0" tIns="0" rIns="0" bIns="0" rtlCol="0" anchor="ctr"/>
          <a:lstStyle/>
          <a:p>
            <a:pPr algn="ctr" indent="0" marL="0">
              <a:buNone/>
            </a:pPr>
            <a:r>
              <a:rPr lang="en-US" sz="950" dirty="0">
                <a:solidFill>
                  <a:srgbClr val="13301C"/>
                </a:solidFill>
                <a:latin typeface="Calibri" pitchFamily="34" charset="0"/>
                <a:ea typeface="Calibri" pitchFamily="34" charset="-122"/>
                <a:cs typeface="Calibri" pitchFamily="34" charset="-120"/>
              </a:rPr>
              <a:t>:8083</a:t>
            </a:r>
            <a:endParaRPr lang="en-US" sz="950" dirty="0"/>
          </a:p>
        </p:txBody>
      </p:sp>
      <p:sp>
        <p:nvSpPr>
          <p:cNvPr id="19" name="Shape 17"/>
          <p:cNvSpPr/>
          <p:nvPr/>
        </p:nvSpPr>
        <p:spPr>
          <a:xfrm>
            <a:off x="9217152" y="3529584"/>
            <a:ext cx="2606040" cy="658368"/>
          </a:xfrm>
          <a:prstGeom prst="roundRect">
            <a:avLst>
              <a:gd name="adj" fmla="val 13889"/>
            </a:avLst>
          </a:prstGeom>
          <a:solidFill>
            <a:srgbClr val="97BC62"/>
          </a:solidFill>
          <a:ln/>
          <a:effectLst>
            <a:outerShdw sx="100000" sy="100000" kx="0" ky="0" algn="bl" rotWithShape="0" blurRad="101600" dist="25400" dir="5400000">
              <a:srgbClr val="000000">
                <a:alpha val="14000"/>
              </a:srgbClr>
            </a:outerShdw>
          </a:effectLst>
        </p:spPr>
      </p:sp>
      <p:sp>
        <p:nvSpPr>
          <p:cNvPr id="20" name="Text 18"/>
          <p:cNvSpPr/>
          <p:nvPr/>
        </p:nvSpPr>
        <p:spPr>
          <a:xfrm>
            <a:off x="9217152" y="3657600"/>
            <a:ext cx="2606040" cy="292608"/>
          </a:xfrm>
          <a:prstGeom prst="rect">
            <a:avLst/>
          </a:prstGeom>
          <a:noFill/>
          <a:ln/>
        </p:spPr>
        <p:txBody>
          <a:bodyPr wrap="square" lIns="0" tIns="0" rIns="0" bIns="0" rtlCol="0" anchor="ctr"/>
          <a:lstStyle/>
          <a:p>
            <a:pPr algn="ctr" indent="0" marL="0">
              <a:buNone/>
            </a:pPr>
            <a:r>
              <a:rPr lang="en-US" sz="1250" b="1" dirty="0">
                <a:solidFill>
                  <a:srgbClr val="13301C"/>
                </a:solidFill>
                <a:latin typeface="Calibri" pitchFamily="34" charset="0"/>
                <a:ea typeface="Calibri" pitchFamily="34" charset="-122"/>
                <a:cs typeface="Calibri" pitchFamily="34" charset="-120"/>
              </a:rPr>
              <a:t>notification</a:t>
            </a:r>
            <a:endParaRPr lang="en-US" sz="1250" dirty="0"/>
          </a:p>
        </p:txBody>
      </p:sp>
      <p:sp>
        <p:nvSpPr>
          <p:cNvPr id="21" name="Text 19"/>
          <p:cNvSpPr/>
          <p:nvPr/>
        </p:nvSpPr>
        <p:spPr>
          <a:xfrm>
            <a:off x="9217152" y="3950208"/>
            <a:ext cx="2606040" cy="256032"/>
          </a:xfrm>
          <a:prstGeom prst="rect">
            <a:avLst/>
          </a:prstGeom>
          <a:noFill/>
          <a:ln/>
        </p:spPr>
        <p:txBody>
          <a:bodyPr wrap="square" lIns="0" tIns="0" rIns="0" bIns="0" rtlCol="0" anchor="ctr"/>
          <a:lstStyle/>
          <a:p>
            <a:pPr algn="ctr" indent="0" marL="0">
              <a:buNone/>
            </a:pPr>
            <a:r>
              <a:rPr lang="en-US" sz="950" dirty="0">
                <a:solidFill>
                  <a:srgbClr val="13301C"/>
                </a:solidFill>
                <a:latin typeface="Calibri" pitchFamily="34" charset="0"/>
                <a:ea typeface="Calibri" pitchFamily="34" charset="-122"/>
                <a:cs typeface="Calibri" pitchFamily="34" charset="-120"/>
              </a:rPr>
              <a:t>:8084</a:t>
            </a:r>
            <a:endParaRPr lang="en-US" sz="950" dirty="0"/>
          </a:p>
        </p:txBody>
      </p:sp>
      <p:sp>
        <p:nvSpPr>
          <p:cNvPr id="22" name="Shape 20"/>
          <p:cNvSpPr/>
          <p:nvPr/>
        </p:nvSpPr>
        <p:spPr>
          <a:xfrm>
            <a:off x="658368" y="4498848"/>
            <a:ext cx="2606040" cy="658368"/>
          </a:xfrm>
          <a:prstGeom prst="roundRect">
            <a:avLst>
              <a:gd name="adj" fmla="val 13889"/>
            </a:avLst>
          </a:prstGeom>
          <a:solidFill>
            <a:srgbClr val="E8F0DA"/>
          </a:solidFill>
          <a:ln/>
          <a:effectLst>
            <a:outerShdw sx="100000" sy="100000" kx="0" ky="0" algn="bl" rotWithShape="0" blurRad="101600" dist="25400" dir="5400000">
              <a:srgbClr val="000000">
                <a:alpha val="14000"/>
              </a:srgbClr>
            </a:outerShdw>
          </a:effectLst>
        </p:spPr>
      </p:sp>
      <p:sp>
        <p:nvSpPr>
          <p:cNvPr id="23" name="Text 21"/>
          <p:cNvSpPr/>
          <p:nvPr/>
        </p:nvSpPr>
        <p:spPr>
          <a:xfrm>
            <a:off x="658368" y="4626864"/>
            <a:ext cx="2606040" cy="292608"/>
          </a:xfrm>
          <a:prstGeom prst="rect">
            <a:avLst/>
          </a:prstGeom>
          <a:noFill/>
          <a:ln/>
        </p:spPr>
        <p:txBody>
          <a:bodyPr wrap="square" lIns="0" tIns="0" rIns="0" bIns="0" rtlCol="0" anchor="ctr"/>
          <a:lstStyle/>
          <a:p>
            <a:pPr algn="ctr" indent="0" marL="0">
              <a:buNone/>
            </a:pPr>
            <a:r>
              <a:rPr lang="en-US" sz="1250" b="1" dirty="0">
                <a:solidFill>
                  <a:srgbClr val="1F4A2C"/>
                </a:solidFill>
                <a:latin typeface="Calibri" pitchFamily="34" charset="0"/>
                <a:ea typeface="Calibri" pitchFamily="34" charset="-122"/>
                <a:cs typeface="Calibri" pitchFamily="34" charset="-120"/>
              </a:rPr>
              <a:t>MySQL</a:t>
            </a:r>
            <a:endParaRPr lang="en-US" sz="1250" dirty="0"/>
          </a:p>
        </p:txBody>
      </p:sp>
      <p:sp>
        <p:nvSpPr>
          <p:cNvPr id="24" name="Text 22"/>
          <p:cNvSpPr/>
          <p:nvPr/>
        </p:nvSpPr>
        <p:spPr>
          <a:xfrm>
            <a:off x="658368" y="4919472"/>
            <a:ext cx="2606040" cy="256032"/>
          </a:xfrm>
          <a:prstGeom prst="rect">
            <a:avLst/>
          </a:prstGeom>
          <a:noFill/>
          <a:ln/>
        </p:spPr>
        <p:txBody>
          <a:bodyPr wrap="square" lIns="0" tIns="0" rIns="0" bIns="0" rtlCol="0" anchor="ctr"/>
          <a:lstStyle/>
          <a:p>
            <a:pPr algn="ctr" indent="0" marL="0">
              <a:buNone/>
            </a:pPr>
            <a:r>
              <a:rPr lang="en-US" sz="950" dirty="0">
                <a:solidFill>
                  <a:srgbClr val="1F4A2C"/>
                </a:solidFill>
                <a:latin typeface="Calibri" pitchFamily="34" charset="0"/>
                <a:ea typeface="Calibri" pitchFamily="34" charset="-122"/>
                <a:cs typeface="Calibri" pitchFamily="34" charset="-120"/>
              </a:rPr>
              <a:t>earthscan_auth</a:t>
            </a:r>
            <a:endParaRPr lang="en-US" sz="950" dirty="0"/>
          </a:p>
        </p:txBody>
      </p:sp>
      <p:sp>
        <p:nvSpPr>
          <p:cNvPr id="25" name="Shape 23"/>
          <p:cNvSpPr/>
          <p:nvPr/>
        </p:nvSpPr>
        <p:spPr>
          <a:xfrm>
            <a:off x="3511296" y="4498848"/>
            <a:ext cx="2606040" cy="658368"/>
          </a:xfrm>
          <a:prstGeom prst="roundRect">
            <a:avLst>
              <a:gd name="adj" fmla="val 13889"/>
            </a:avLst>
          </a:prstGeom>
          <a:solidFill>
            <a:srgbClr val="E8F0DA"/>
          </a:solidFill>
          <a:ln/>
          <a:effectLst>
            <a:outerShdw sx="100000" sy="100000" kx="0" ky="0" algn="bl" rotWithShape="0" blurRad="101600" dist="25400" dir="5400000">
              <a:srgbClr val="000000">
                <a:alpha val="14000"/>
              </a:srgbClr>
            </a:outerShdw>
          </a:effectLst>
        </p:spPr>
      </p:sp>
      <p:sp>
        <p:nvSpPr>
          <p:cNvPr id="26" name="Text 24"/>
          <p:cNvSpPr/>
          <p:nvPr/>
        </p:nvSpPr>
        <p:spPr>
          <a:xfrm>
            <a:off x="3511296" y="4626864"/>
            <a:ext cx="2606040" cy="292608"/>
          </a:xfrm>
          <a:prstGeom prst="rect">
            <a:avLst/>
          </a:prstGeom>
          <a:noFill/>
          <a:ln/>
        </p:spPr>
        <p:txBody>
          <a:bodyPr wrap="square" lIns="0" tIns="0" rIns="0" bIns="0" rtlCol="0" anchor="ctr"/>
          <a:lstStyle/>
          <a:p>
            <a:pPr algn="ctr" indent="0" marL="0">
              <a:buNone/>
            </a:pPr>
            <a:r>
              <a:rPr lang="en-US" sz="1250" b="1" dirty="0">
                <a:solidFill>
                  <a:srgbClr val="1F4A2C"/>
                </a:solidFill>
                <a:latin typeface="Calibri" pitchFamily="34" charset="0"/>
                <a:ea typeface="Calibri" pitchFamily="34" charset="-122"/>
                <a:cs typeface="Calibri" pitchFamily="34" charset="-120"/>
              </a:rPr>
              <a:t>MySQL</a:t>
            </a:r>
            <a:endParaRPr lang="en-US" sz="1250" dirty="0"/>
          </a:p>
        </p:txBody>
      </p:sp>
      <p:sp>
        <p:nvSpPr>
          <p:cNvPr id="27" name="Text 25"/>
          <p:cNvSpPr/>
          <p:nvPr/>
        </p:nvSpPr>
        <p:spPr>
          <a:xfrm>
            <a:off x="3511296" y="4919472"/>
            <a:ext cx="2606040" cy="256032"/>
          </a:xfrm>
          <a:prstGeom prst="rect">
            <a:avLst/>
          </a:prstGeom>
          <a:noFill/>
          <a:ln/>
        </p:spPr>
        <p:txBody>
          <a:bodyPr wrap="square" lIns="0" tIns="0" rIns="0" bIns="0" rtlCol="0" anchor="ctr"/>
          <a:lstStyle/>
          <a:p>
            <a:pPr algn="ctr" indent="0" marL="0">
              <a:buNone/>
            </a:pPr>
            <a:r>
              <a:rPr lang="en-US" sz="950" dirty="0">
                <a:solidFill>
                  <a:srgbClr val="1F4A2C"/>
                </a:solidFill>
                <a:latin typeface="Calibri" pitchFamily="34" charset="0"/>
                <a:ea typeface="Calibri" pitchFamily="34" charset="-122"/>
                <a:cs typeface="Calibri" pitchFamily="34" charset="-120"/>
              </a:rPr>
              <a:t>earthscan_land</a:t>
            </a:r>
            <a:endParaRPr lang="en-US" sz="950" dirty="0"/>
          </a:p>
        </p:txBody>
      </p:sp>
      <p:sp>
        <p:nvSpPr>
          <p:cNvPr id="28" name="Shape 26"/>
          <p:cNvSpPr/>
          <p:nvPr/>
        </p:nvSpPr>
        <p:spPr>
          <a:xfrm>
            <a:off x="6364224" y="4498848"/>
            <a:ext cx="2606040" cy="658368"/>
          </a:xfrm>
          <a:prstGeom prst="roundRect">
            <a:avLst>
              <a:gd name="adj" fmla="val 13889"/>
            </a:avLst>
          </a:prstGeom>
          <a:solidFill>
            <a:srgbClr val="E8F0DA"/>
          </a:solidFill>
          <a:ln/>
          <a:effectLst>
            <a:outerShdw sx="100000" sy="100000" kx="0" ky="0" algn="bl" rotWithShape="0" blurRad="101600" dist="25400" dir="5400000">
              <a:srgbClr val="000000">
                <a:alpha val="14000"/>
              </a:srgbClr>
            </a:outerShdw>
          </a:effectLst>
        </p:spPr>
      </p:sp>
      <p:sp>
        <p:nvSpPr>
          <p:cNvPr id="29" name="Text 27"/>
          <p:cNvSpPr/>
          <p:nvPr/>
        </p:nvSpPr>
        <p:spPr>
          <a:xfrm>
            <a:off x="6364224" y="4626864"/>
            <a:ext cx="2606040" cy="292608"/>
          </a:xfrm>
          <a:prstGeom prst="rect">
            <a:avLst/>
          </a:prstGeom>
          <a:noFill/>
          <a:ln/>
        </p:spPr>
        <p:txBody>
          <a:bodyPr wrap="square" lIns="0" tIns="0" rIns="0" bIns="0" rtlCol="0" anchor="ctr"/>
          <a:lstStyle/>
          <a:p>
            <a:pPr algn="ctr" indent="0" marL="0">
              <a:buNone/>
            </a:pPr>
            <a:r>
              <a:rPr lang="en-US" sz="1250" b="1" dirty="0">
                <a:solidFill>
                  <a:srgbClr val="1F4A2C"/>
                </a:solidFill>
                <a:latin typeface="Calibri" pitchFamily="34" charset="0"/>
                <a:ea typeface="Calibri" pitchFamily="34" charset="-122"/>
                <a:cs typeface="Calibri" pitchFamily="34" charset="-120"/>
              </a:rPr>
              <a:t>MongoDB</a:t>
            </a:r>
            <a:endParaRPr lang="en-US" sz="1250" dirty="0"/>
          </a:p>
        </p:txBody>
      </p:sp>
      <p:sp>
        <p:nvSpPr>
          <p:cNvPr id="30" name="Text 28"/>
          <p:cNvSpPr/>
          <p:nvPr/>
        </p:nvSpPr>
        <p:spPr>
          <a:xfrm>
            <a:off x="6364224" y="4919472"/>
            <a:ext cx="2606040" cy="256032"/>
          </a:xfrm>
          <a:prstGeom prst="rect">
            <a:avLst/>
          </a:prstGeom>
          <a:noFill/>
          <a:ln/>
        </p:spPr>
        <p:txBody>
          <a:bodyPr wrap="square" lIns="0" tIns="0" rIns="0" bIns="0" rtlCol="0" anchor="ctr"/>
          <a:lstStyle/>
          <a:p>
            <a:pPr algn="ctr" indent="0" marL="0">
              <a:buNone/>
            </a:pPr>
            <a:r>
              <a:rPr lang="en-US" sz="950" dirty="0">
                <a:solidFill>
                  <a:srgbClr val="1F4A2C"/>
                </a:solidFill>
                <a:latin typeface="Calibri" pitchFamily="34" charset="0"/>
                <a:ea typeface="Calibri" pitchFamily="34" charset="-122"/>
                <a:cs typeface="Calibri" pitchFamily="34" charset="-120"/>
              </a:rPr>
              <a:t>earthscan_forum</a:t>
            </a:r>
            <a:endParaRPr lang="en-US" sz="950" dirty="0"/>
          </a:p>
        </p:txBody>
      </p:sp>
      <p:sp>
        <p:nvSpPr>
          <p:cNvPr id="31" name="Shape 29"/>
          <p:cNvSpPr/>
          <p:nvPr/>
        </p:nvSpPr>
        <p:spPr>
          <a:xfrm>
            <a:off x="9217152" y="4498848"/>
            <a:ext cx="2606040" cy="658368"/>
          </a:xfrm>
          <a:prstGeom prst="roundRect">
            <a:avLst>
              <a:gd name="adj" fmla="val 13889"/>
            </a:avLst>
          </a:prstGeom>
          <a:solidFill>
            <a:srgbClr val="E8F0DA"/>
          </a:solidFill>
          <a:ln/>
          <a:effectLst>
            <a:outerShdw sx="100000" sy="100000" kx="0" ky="0" algn="bl" rotWithShape="0" blurRad="101600" dist="25400" dir="5400000">
              <a:srgbClr val="000000">
                <a:alpha val="14000"/>
              </a:srgbClr>
            </a:outerShdw>
          </a:effectLst>
        </p:spPr>
      </p:sp>
      <p:sp>
        <p:nvSpPr>
          <p:cNvPr id="32" name="Text 30"/>
          <p:cNvSpPr/>
          <p:nvPr/>
        </p:nvSpPr>
        <p:spPr>
          <a:xfrm>
            <a:off x="9217152" y="4626864"/>
            <a:ext cx="2606040" cy="292608"/>
          </a:xfrm>
          <a:prstGeom prst="rect">
            <a:avLst/>
          </a:prstGeom>
          <a:noFill/>
          <a:ln/>
        </p:spPr>
        <p:txBody>
          <a:bodyPr wrap="square" lIns="0" tIns="0" rIns="0" bIns="0" rtlCol="0" anchor="ctr"/>
          <a:lstStyle/>
          <a:p>
            <a:pPr algn="ctr" indent="0" marL="0">
              <a:buNone/>
            </a:pPr>
            <a:r>
              <a:rPr lang="en-US" sz="1250" b="1" dirty="0">
                <a:solidFill>
                  <a:srgbClr val="1F4A2C"/>
                </a:solidFill>
                <a:latin typeface="Calibri" pitchFamily="34" charset="0"/>
                <a:ea typeface="Calibri" pitchFamily="34" charset="-122"/>
                <a:cs typeface="Calibri" pitchFamily="34" charset="-120"/>
              </a:rPr>
              <a:t>MongoDB</a:t>
            </a:r>
            <a:endParaRPr lang="en-US" sz="1250" dirty="0"/>
          </a:p>
        </p:txBody>
      </p:sp>
      <p:sp>
        <p:nvSpPr>
          <p:cNvPr id="33" name="Text 31"/>
          <p:cNvSpPr/>
          <p:nvPr/>
        </p:nvSpPr>
        <p:spPr>
          <a:xfrm>
            <a:off x="9217152" y="4919472"/>
            <a:ext cx="2606040" cy="256032"/>
          </a:xfrm>
          <a:prstGeom prst="rect">
            <a:avLst/>
          </a:prstGeom>
          <a:noFill/>
          <a:ln/>
        </p:spPr>
        <p:txBody>
          <a:bodyPr wrap="square" lIns="0" tIns="0" rIns="0" bIns="0" rtlCol="0" anchor="ctr"/>
          <a:lstStyle/>
          <a:p>
            <a:pPr algn="ctr" indent="0" marL="0">
              <a:buNone/>
            </a:pPr>
            <a:r>
              <a:rPr lang="en-US" sz="950" dirty="0">
                <a:solidFill>
                  <a:srgbClr val="1F4A2C"/>
                </a:solidFill>
                <a:latin typeface="Calibri" pitchFamily="34" charset="0"/>
                <a:ea typeface="Calibri" pitchFamily="34" charset="-122"/>
                <a:cs typeface="Calibri" pitchFamily="34" charset="-120"/>
              </a:rPr>
              <a:t>notifications</a:t>
            </a:r>
            <a:endParaRPr lang="en-US" sz="950" dirty="0"/>
          </a:p>
        </p:txBody>
      </p:sp>
      <p:sp>
        <p:nvSpPr>
          <p:cNvPr id="34" name="Shape 32"/>
          <p:cNvSpPr/>
          <p:nvPr/>
        </p:nvSpPr>
        <p:spPr>
          <a:xfrm>
            <a:off x="658368" y="5504688"/>
            <a:ext cx="5440680" cy="603504"/>
          </a:xfrm>
          <a:prstGeom prst="roundRect">
            <a:avLst>
              <a:gd name="adj" fmla="val 15152"/>
            </a:avLst>
          </a:prstGeom>
          <a:solidFill>
            <a:srgbClr val="C1502E"/>
          </a:solidFill>
          <a:ln/>
          <a:effectLst>
            <a:outerShdw sx="100000" sy="100000" kx="0" ky="0" algn="bl" rotWithShape="0" blurRad="101600" dist="25400" dir="5400000">
              <a:srgbClr val="000000">
                <a:alpha val="14000"/>
              </a:srgbClr>
            </a:outerShdw>
          </a:effectLst>
        </p:spPr>
      </p:sp>
      <p:sp>
        <p:nvSpPr>
          <p:cNvPr id="35" name="Text 33"/>
          <p:cNvSpPr/>
          <p:nvPr/>
        </p:nvSpPr>
        <p:spPr>
          <a:xfrm>
            <a:off x="658368" y="5632704"/>
            <a:ext cx="544068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RabbitMQ  ·  earthscan.events (topic exchange)</a:t>
            </a:r>
            <a:endParaRPr lang="en-US" sz="1250" dirty="0"/>
          </a:p>
        </p:txBody>
      </p:sp>
      <p:sp>
        <p:nvSpPr>
          <p:cNvPr id="36" name="Shape 34"/>
          <p:cNvSpPr/>
          <p:nvPr/>
        </p:nvSpPr>
        <p:spPr>
          <a:xfrm>
            <a:off x="6446520" y="5504688"/>
            <a:ext cx="5138928" cy="603504"/>
          </a:xfrm>
          <a:prstGeom prst="roundRect">
            <a:avLst>
              <a:gd name="adj" fmla="val 15152"/>
            </a:avLst>
          </a:prstGeom>
          <a:solidFill>
            <a:srgbClr val="5C6154"/>
          </a:solidFill>
          <a:ln/>
          <a:effectLst>
            <a:outerShdw sx="100000" sy="100000" kx="0" ky="0" algn="bl" rotWithShape="0" blurRad="101600" dist="25400" dir="5400000">
              <a:srgbClr val="000000">
                <a:alpha val="14000"/>
              </a:srgbClr>
            </a:outerShdw>
          </a:effectLst>
        </p:spPr>
      </p:sp>
      <p:sp>
        <p:nvSpPr>
          <p:cNvPr id="37" name="Text 35"/>
          <p:cNvSpPr/>
          <p:nvPr/>
        </p:nvSpPr>
        <p:spPr>
          <a:xfrm>
            <a:off x="6446520" y="5632704"/>
            <a:ext cx="513892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Eureka service registry  ·  :8761</a:t>
            </a:r>
            <a:endParaRPr lang="en-US" sz="1250" dirty="0"/>
          </a:p>
        </p:txBody>
      </p:sp>
      <p:sp>
        <p:nvSpPr>
          <p:cNvPr id="38" name="Shape 36"/>
          <p:cNvSpPr/>
          <p:nvPr/>
        </p:nvSpPr>
        <p:spPr>
          <a:xfrm>
            <a:off x="6080760" y="2194560"/>
            <a:ext cx="0" cy="292608"/>
          </a:xfrm>
          <a:prstGeom prst="line">
            <a:avLst/>
          </a:prstGeom>
          <a:noFill/>
          <a:ln w="17780">
            <a:solidFill>
              <a:srgbClr val="5C6154"/>
            </a:solidFill>
            <a:prstDash val="solid"/>
          </a:ln>
        </p:spPr>
      </p:sp>
      <p:sp>
        <p:nvSpPr>
          <p:cNvPr id="39" name="Shape 37"/>
          <p:cNvSpPr/>
          <p:nvPr/>
        </p:nvSpPr>
        <p:spPr>
          <a:xfrm>
            <a:off x="6080760" y="3200400"/>
            <a:ext cx="-4123944" cy="329184"/>
          </a:xfrm>
          <a:prstGeom prst="line">
            <a:avLst/>
          </a:prstGeom>
          <a:noFill/>
          <a:ln w="17780">
            <a:solidFill>
              <a:srgbClr val="5C6154"/>
            </a:solidFill>
            <a:prstDash val="solid"/>
          </a:ln>
        </p:spPr>
      </p:sp>
      <p:sp>
        <p:nvSpPr>
          <p:cNvPr id="40" name="Shape 38"/>
          <p:cNvSpPr/>
          <p:nvPr/>
        </p:nvSpPr>
        <p:spPr>
          <a:xfrm>
            <a:off x="1956816" y="4187952"/>
            <a:ext cx="0" cy="310896"/>
          </a:xfrm>
          <a:prstGeom prst="line">
            <a:avLst/>
          </a:prstGeom>
          <a:noFill/>
          <a:ln w="17780">
            <a:solidFill>
              <a:srgbClr val="97BC62"/>
            </a:solidFill>
            <a:prstDash val="solid"/>
          </a:ln>
        </p:spPr>
      </p:sp>
      <p:sp>
        <p:nvSpPr>
          <p:cNvPr id="41" name="Shape 39"/>
          <p:cNvSpPr/>
          <p:nvPr/>
        </p:nvSpPr>
        <p:spPr>
          <a:xfrm>
            <a:off x="6080760" y="3200400"/>
            <a:ext cx="-1271016" cy="329184"/>
          </a:xfrm>
          <a:prstGeom prst="line">
            <a:avLst/>
          </a:prstGeom>
          <a:noFill/>
          <a:ln w="17780">
            <a:solidFill>
              <a:srgbClr val="5C6154"/>
            </a:solidFill>
            <a:prstDash val="solid"/>
          </a:ln>
        </p:spPr>
      </p:sp>
      <p:sp>
        <p:nvSpPr>
          <p:cNvPr id="42" name="Shape 40"/>
          <p:cNvSpPr/>
          <p:nvPr/>
        </p:nvSpPr>
        <p:spPr>
          <a:xfrm>
            <a:off x="4809744" y="4187952"/>
            <a:ext cx="0" cy="310896"/>
          </a:xfrm>
          <a:prstGeom prst="line">
            <a:avLst/>
          </a:prstGeom>
          <a:noFill/>
          <a:ln w="17780">
            <a:solidFill>
              <a:srgbClr val="97BC62"/>
            </a:solidFill>
            <a:prstDash val="solid"/>
          </a:ln>
        </p:spPr>
      </p:sp>
      <p:sp>
        <p:nvSpPr>
          <p:cNvPr id="43" name="Shape 41"/>
          <p:cNvSpPr/>
          <p:nvPr/>
        </p:nvSpPr>
        <p:spPr>
          <a:xfrm>
            <a:off x="6080760" y="3200400"/>
            <a:ext cx="1581912" cy="329184"/>
          </a:xfrm>
          <a:prstGeom prst="line">
            <a:avLst/>
          </a:prstGeom>
          <a:noFill/>
          <a:ln w="17780">
            <a:solidFill>
              <a:srgbClr val="5C6154"/>
            </a:solidFill>
            <a:prstDash val="solid"/>
          </a:ln>
        </p:spPr>
      </p:sp>
      <p:sp>
        <p:nvSpPr>
          <p:cNvPr id="44" name="Shape 42"/>
          <p:cNvSpPr/>
          <p:nvPr/>
        </p:nvSpPr>
        <p:spPr>
          <a:xfrm>
            <a:off x="7662672" y="4187952"/>
            <a:ext cx="0" cy="310896"/>
          </a:xfrm>
          <a:prstGeom prst="line">
            <a:avLst/>
          </a:prstGeom>
          <a:noFill/>
          <a:ln w="17780">
            <a:solidFill>
              <a:srgbClr val="97BC62"/>
            </a:solidFill>
            <a:prstDash val="solid"/>
          </a:ln>
        </p:spPr>
      </p:sp>
      <p:sp>
        <p:nvSpPr>
          <p:cNvPr id="45" name="Shape 43"/>
          <p:cNvSpPr/>
          <p:nvPr/>
        </p:nvSpPr>
        <p:spPr>
          <a:xfrm>
            <a:off x="6080760" y="3200400"/>
            <a:ext cx="4434840" cy="329184"/>
          </a:xfrm>
          <a:prstGeom prst="line">
            <a:avLst/>
          </a:prstGeom>
          <a:noFill/>
          <a:ln w="17780">
            <a:solidFill>
              <a:srgbClr val="5C6154"/>
            </a:solidFill>
            <a:prstDash val="solid"/>
          </a:ln>
        </p:spPr>
      </p:sp>
      <p:sp>
        <p:nvSpPr>
          <p:cNvPr id="46" name="Shape 44"/>
          <p:cNvSpPr/>
          <p:nvPr/>
        </p:nvSpPr>
        <p:spPr>
          <a:xfrm>
            <a:off x="10515600" y="4187952"/>
            <a:ext cx="0" cy="310896"/>
          </a:xfrm>
          <a:prstGeom prst="line">
            <a:avLst/>
          </a:prstGeom>
          <a:noFill/>
          <a:ln w="17780">
            <a:solidFill>
              <a:srgbClr val="97BC62"/>
            </a:solidFill>
            <a:prstDash val="solid"/>
          </a:ln>
        </p:spPr>
      </p:sp>
      <p:sp>
        <p:nvSpPr>
          <p:cNvPr id="47" name="Text 45"/>
          <p:cNvSpPr/>
          <p:nvPr/>
        </p:nvSpPr>
        <p:spPr>
          <a:xfrm>
            <a:off x="658368" y="6291072"/>
            <a:ext cx="10972800" cy="365760"/>
          </a:xfrm>
          <a:prstGeom prst="rect">
            <a:avLst/>
          </a:prstGeom>
          <a:noFill/>
          <a:ln/>
        </p:spPr>
        <p:txBody>
          <a:bodyPr wrap="square" lIns="0" tIns="0" rIns="0" bIns="0" rtlCol="0" anchor="ctr"/>
          <a:lstStyle/>
          <a:p>
            <a:pPr indent="0" marL="0">
              <a:buNone/>
            </a:pPr>
            <a:r>
              <a:rPr lang="en-US" sz="1300" i="1" dirty="0">
                <a:solidFill>
                  <a:srgbClr val="1F4A2C"/>
                </a:solidFill>
                <a:latin typeface="Cambria" pitchFamily="34" charset="0"/>
                <a:ea typeface="Cambria" pitchFamily="34" charset="-122"/>
                <a:cs typeface="Cambria" pitchFamily="34" charset="-120"/>
              </a:rPr>
              <a:t>No service ever calls another service over HTTP. The only inter-service communication is asynchronous, through RabbitMQ.</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DECOMPOSITION</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Boundaries follow the domain, not a diagram</a:t>
            </a:r>
            <a:endParaRPr lang="en-US" sz="3400" dirty="0"/>
          </a:p>
        </p:txBody>
      </p:sp>
      <p:sp>
        <p:nvSpPr>
          <p:cNvPr id="4" name="Shape 2"/>
          <p:cNvSpPr/>
          <p:nvPr/>
        </p:nvSpPr>
        <p:spPr>
          <a:xfrm>
            <a:off x="548640" y="1627632"/>
            <a:ext cx="11064240" cy="877824"/>
          </a:xfrm>
          <a:prstGeom prst="roundRect">
            <a:avLst>
              <a:gd name="adj" fmla="val 9375"/>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786384" y="1892808"/>
            <a:ext cx="347472" cy="347472"/>
          </a:xfrm>
          <a:prstGeom prst="ellipse">
            <a:avLst/>
          </a:prstGeom>
          <a:solidFill>
            <a:srgbClr val="97BC62"/>
          </a:solidFill>
          <a:ln/>
        </p:spPr>
      </p:sp>
      <p:sp>
        <p:nvSpPr>
          <p:cNvPr id="6" name="Text 4"/>
          <p:cNvSpPr/>
          <p:nvPr/>
        </p:nvSpPr>
        <p:spPr>
          <a:xfrm>
            <a:off x="1298448" y="1755648"/>
            <a:ext cx="265176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auth-service</a:t>
            </a:r>
            <a:endParaRPr lang="en-US" sz="1400" dirty="0"/>
          </a:p>
        </p:txBody>
      </p:sp>
      <p:sp>
        <p:nvSpPr>
          <p:cNvPr id="7" name="Text 5"/>
          <p:cNvSpPr/>
          <p:nvPr/>
        </p:nvSpPr>
        <p:spPr>
          <a:xfrm>
            <a:off x="1298448" y="2066544"/>
            <a:ext cx="3291840" cy="310896"/>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Identity, roles, the only JWT issuer</a:t>
            </a:r>
            <a:endParaRPr lang="en-US" sz="1100" dirty="0"/>
          </a:p>
        </p:txBody>
      </p:sp>
      <p:sp>
        <p:nvSpPr>
          <p:cNvPr id="8" name="Text 6"/>
          <p:cNvSpPr/>
          <p:nvPr/>
        </p:nvSpPr>
        <p:spPr>
          <a:xfrm>
            <a:off x="4846320" y="1901952"/>
            <a:ext cx="649224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Changes rarely; must be highly available</a:t>
            </a:r>
            <a:endParaRPr lang="en-US" sz="1250" dirty="0"/>
          </a:p>
        </p:txBody>
      </p:sp>
      <p:sp>
        <p:nvSpPr>
          <p:cNvPr id="9" name="Shape 7"/>
          <p:cNvSpPr/>
          <p:nvPr/>
        </p:nvSpPr>
        <p:spPr>
          <a:xfrm>
            <a:off x="548640" y="2651760"/>
            <a:ext cx="11064240" cy="877824"/>
          </a:xfrm>
          <a:prstGeom prst="roundRect">
            <a:avLst>
              <a:gd name="adj" fmla="val 9375"/>
            </a:avLst>
          </a:prstGeom>
          <a:solidFill>
            <a:srgbClr val="F7F5EF"/>
          </a:solidFill>
          <a:ln/>
          <a:effectLst>
            <a:outerShdw sx="100000" sy="100000" kx="0" ky="0" algn="bl" rotWithShape="0" blurRad="101600" dist="25400" dir="5400000">
              <a:srgbClr val="000000">
                <a:alpha val="14000"/>
              </a:srgbClr>
            </a:outerShdw>
          </a:effectLst>
        </p:spPr>
      </p:sp>
      <p:sp>
        <p:nvSpPr>
          <p:cNvPr id="10" name="Shape 8"/>
          <p:cNvSpPr/>
          <p:nvPr/>
        </p:nvSpPr>
        <p:spPr>
          <a:xfrm>
            <a:off x="786384" y="2916936"/>
            <a:ext cx="347472" cy="347472"/>
          </a:xfrm>
          <a:prstGeom prst="ellipse">
            <a:avLst/>
          </a:prstGeom>
          <a:solidFill>
            <a:srgbClr val="97BC62"/>
          </a:solidFill>
          <a:ln/>
        </p:spPr>
      </p:sp>
      <p:sp>
        <p:nvSpPr>
          <p:cNvPr id="11" name="Text 9"/>
          <p:cNvSpPr/>
          <p:nvPr/>
        </p:nvSpPr>
        <p:spPr>
          <a:xfrm>
            <a:off x="1298448" y="2779776"/>
            <a:ext cx="265176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land-service</a:t>
            </a:r>
            <a:endParaRPr lang="en-US" sz="1400" dirty="0"/>
          </a:p>
        </p:txBody>
      </p:sp>
      <p:sp>
        <p:nvSpPr>
          <p:cNvPr id="12" name="Text 10"/>
          <p:cNvSpPr/>
          <p:nvPr/>
        </p:nvSpPr>
        <p:spPr>
          <a:xfrm>
            <a:off x="1298448" y="3090672"/>
            <a:ext cx="3291840" cy="310896"/>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Listings, scoring engine, saved searches</a:t>
            </a:r>
            <a:endParaRPr lang="en-US" sz="1100" dirty="0"/>
          </a:p>
        </p:txBody>
      </p:sp>
      <p:sp>
        <p:nvSpPr>
          <p:cNvPr id="13" name="Text 11"/>
          <p:cNvSpPr/>
          <p:nvPr/>
        </p:nvSpPr>
        <p:spPr>
          <a:xfrm>
            <a:off x="4846320" y="2926080"/>
            <a:ext cx="649224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Carries the computational core and heaviest queries</a:t>
            </a:r>
            <a:endParaRPr lang="en-US" sz="1250" dirty="0"/>
          </a:p>
        </p:txBody>
      </p:sp>
      <p:sp>
        <p:nvSpPr>
          <p:cNvPr id="14" name="Shape 12"/>
          <p:cNvSpPr/>
          <p:nvPr/>
        </p:nvSpPr>
        <p:spPr>
          <a:xfrm>
            <a:off x="548640" y="3675888"/>
            <a:ext cx="11064240" cy="877824"/>
          </a:xfrm>
          <a:prstGeom prst="roundRect">
            <a:avLst>
              <a:gd name="adj" fmla="val 9375"/>
            </a:avLst>
          </a:prstGeom>
          <a:solidFill>
            <a:srgbClr val="F7F5EF"/>
          </a:solidFill>
          <a:ln/>
          <a:effectLst>
            <a:outerShdw sx="100000" sy="100000" kx="0" ky="0" algn="bl" rotWithShape="0" blurRad="101600" dist="25400" dir="5400000">
              <a:srgbClr val="000000">
                <a:alpha val="14000"/>
              </a:srgbClr>
            </a:outerShdw>
          </a:effectLst>
        </p:spPr>
      </p:sp>
      <p:sp>
        <p:nvSpPr>
          <p:cNvPr id="15" name="Shape 13"/>
          <p:cNvSpPr/>
          <p:nvPr/>
        </p:nvSpPr>
        <p:spPr>
          <a:xfrm>
            <a:off x="786384" y="3941064"/>
            <a:ext cx="347472" cy="347472"/>
          </a:xfrm>
          <a:prstGeom prst="ellipse">
            <a:avLst/>
          </a:prstGeom>
          <a:solidFill>
            <a:srgbClr val="97BC62"/>
          </a:solidFill>
          <a:ln/>
        </p:spPr>
      </p:sp>
      <p:sp>
        <p:nvSpPr>
          <p:cNvPr id="16" name="Text 14"/>
          <p:cNvSpPr/>
          <p:nvPr/>
        </p:nvSpPr>
        <p:spPr>
          <a:xfrm>
            <a:off x="1298448" y="3803904"/>
            <a:ext cx="265176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forum-service</a:t>
            </a:r>
            <a:endParaRPr lang="en-US" sz="1400" dirty="0"/>
          </a:p>
        </p:txBody>
      </p:sp>
      <p:sp>
        <p:nvSpPr>
          <p:cNvPr id="17" name="Text 15"/>
          <p:cNvSpPr/>
          <p:nvPr/>
        </p:nvSpPr>
        <p:spPr>
          <a:xfrm>
            <a:off x="1298448" y="4114800"/>
            <a:ext cx="3291840" cy="310896"/>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Threads with embedded replies</a:t>
            </a:r>
            <a:endParaRPr lang="en-US" sz="1100" dirty="0"/>
          </a:p>
        </p:txBody>
      </p:sp>
      <p:sp>
        <p:nvSpPr>
          <p:cNvPr id="18" name="Text 16"/>
          <p:cNvSpPr/>
          <p:nvPr/>
        </p:nvSpPr>
        <p:spPr>
          <a:xfrm>
            <a:off x="4846320" y="3950208"/>
            <a:ext cx="649224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Different data shape, different availability need</a:t>
            </a:r>
            <a:endParaRPr lang="en-US" sz="1250" dirty="0"/>
          </a:p>
        </p:txBody>
      </p:sp>
      <p:sp>
        <p:nvSpPr>
          <p:cNvPr id="19" name="Shape 17"/>
          <p:cNvSpPr/>
          <p:nvPr/>
        </p:nvSpPr>
        <p:spPr>
          <a:xfrm>
            <a:off x="548640" y="4700016"/>
            <a:ext cx="11064240" cy="877824"/>
          </a:xfrm>
          <a:prstGeom prst="roundRect">
            <a:avLst>
              <a:gd name="adj" fmla="val 9375"/>
            </a:avLst>
          </a:prstGeom>
          <a:solidFill>
            <a:srgbClr val="FBEDE7"/>
          </a:solidFill>
          <a:ln/>
          <a:effectLst>
            <a:outerShdw sx="100000" sy="100000" kx="0" ky="0" algn="bl" rotWithShape="0" blurRad="101600" dist="25400" dir="5400000">
              <a:srgbClr val="000000">
                <a:alpha val="14000"/>
              </a:srgbClr>
            </a:outerShdw>
          </a:effectLst>
        </p:spPr>
      </p:sp>
      <p:sp>
        <p:nvSpPr>
          <p:cNvPr id="20" name="Shape 18"/>
          <p:cNvSpPr/>
          <p:nvPr/>
        </p:nvSpPr>
        <p:spPr>
          <a:xfrm>
            <a:off x="786384" y="4965192"/>
            <a:ext cx="347472" cy="347472"/>
          </a:xfrm>
          <a:prstGeom prst="ellipse">
            <a:avLst/>
          </a:prstGeom>
          <a:solidFill>
            <a:srgbClr val="C1502E"/>
          </a:solidFill>
          <a:ln/>
        </p:spPr>
      </p:sp>
      <p:sp>
        <p:nvSpPr>
          <p:cNvPr id="21" name="Text 19"/>
          <p:cNvSpPr/>
          <p:nvPr/>
        </p:nvSpPr>
        <p:spPr>
          <a:xfrm>
            <a:off x="1298448" y="4828032"/>
            <a:ext cx="265176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notification-service</a:t>
            </a:r>
            <a:endParaRPr lang="en-US" sz="1400" dirty="0"/>
          </a:p>
        </p:txBody>
      </p:sp>
      <p:sp>
        <p:nvSpPr>
          <p:cNvPr id="22" name="Text 20"/>
          <p:cNvSpPr/>
          <p:nvPr/>
        </p:nvSpPr>
        <p:spPr>
          <a:xfrm>
            <a:off x="1298448" y="5138928"/>
            <a:ext cx="3291840" cy="310896"/>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Turns events into per-user notices</a:t>
            </a:r>
            <a:endParaRPr lang="en-US" sz="1100" dirty="0"/>
          </a:p>
        </p:txBody>
      </p:sp>
      <p:sp>
        <p:nvSpPr>
          <p:cNvPr id="23" name="Text 21"/>
          <p:cNvSpPr/>
          <p:nvPr/>
        </p:nvSpPr>
        <p:spPr>
          <a:xfrm>
            <a:off x="4846320" y="4974336"/>
            <a:ext cx="649224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Pure consumer — this is what earns the message bus</a:t>
            </a:r>
            <a:endParaRPr lang="en-US" sz="1250" dirty="0"/>
          </a:p>
        </p:txBody>
      </p:sp>
      <p:sp>
        <p:nvSpPr>
          <p:cNvPr id="24" name="Shape 22"/>
          <p:cNvSpPr/>
          <p:nvPr/>
        </p:nvSpPr>
        <p:spPr>
          <a:xfrm>
            <a:off x="548640" y="5797296"/>
            <a:ext cx="11064240" cy="786384"/>
          </a:xfrm>
          <a:prstGeom prst="roundRect">
            <a:avLst>
              <a:gd name="adj" fmla="val 10465"/>
            </a:avLst>
          </a:prstGeom>
          <a:solidFill>
            <a:srgbClr val="E8F0DA"/>
          </a:solidFill>
          <a:ln/>
          <a:effectLst>
            <a:outerShdw sx="100000" sy="100000" kx="0" ky="0" algn="bl" rotWithShape="0" blurRad="101600" dist="25400" dir="5400000">
              <a:srgbClr val="000000">
                <a:alpha val="14000"/>
              </a:srgbClr>
            </a:outerShdw>
          </a:effectLst>
        </p:spPr>
      </p:sp>
      <p:sp>
        <p:nvSpPr>
          <p:cNvPr id="25" name="Text 23"/>
          <p:cNvSpPr/>
          <p:nvPr/>
        </p:nvSpPr>
        <p:spPr>
          <a:xfrm>
            <a:off x="868680" y="5943600"/>
            <a:ext cx="10515600" cy="548640"/>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Stated honestly:  </a:t>
            </a:r>
            <a:pPr indent="0" marL="0">
              <a:buNone/>
            </a:pPr>
            <a:r>
              <a:rPr lang="en-US" sz="1250" dirty="0">
                <a:solidFill>
                  <a:srgbClr val="24261F"/>
                </a:solidFill>
                <a:latin typeface="Calibri" pitchFamily="34" charset="0"/>
                <a:ea typeface="Calibri" pitchFamily="34" charset="-122"/>
                <a:cs typeface="Calibri" pitchFamily="34" charset="-120"/>
              </a:rPr>
              <a:t>at this scale a well-structured monolith would be simpler to operate and the better production choice. The split satisfies an explicit architectural requirement — and its costs are documented, not hidden.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SPRING SECURITY</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Authorization enforced at four independent layers</a:t>
            </a:r>
            <a:endParaRPr lang="en-US" sz="3400" dirty="0"/>
          </a:p>
        </p:txBody>
      </p:sp>
      <p:sp>
        <p:nvSpPr>
          <p:cNvPr id="4" name="Shape 2"/>
          <p:cNvSpPr/>
          <p:nvPr/>
        </p:nvSpPr>
        <p:spPr>
          <a:xfrm>
            <a:off x="548640" y="1572768"/>
            <a:ext cx="11064240" cy="822960"/>
          </a:xfrm>
          <a:prstGeom prst="roundRect">
            <a:avLst>
              <a:gd name="adj" fmla="val 10000"/>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777240" y="1746504"/>
            <a:ext cx="475488" cy="475488"/>
          </a:xfrm>
          <a:prstGeom prst="ellipse">
            <a:avLst/>
          </a:prstGeom>
          <a:solidFill>
            <a:srgbClr val="1F4A2C"/>
          </a:solidFill>
          <a:ln/>
        </p:spPr>
      </p:sp>
      <p:sp>
        <p:nvSpPr>
          <p:cNvPr id="6" name="Text 4"/>
          <p:cNvSpPr/>
          <p:nvPr/>
        </p:nvSpPr>
        <p:spPr>
          <a:xfrm>
            <a:off x="777240" y="174650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389888" y="1691640"/>
            <a:ext cx="237744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API Gateway</a:t>
            </a:r>
            <a:endParaRPr lang="en-US" sz="1350" dirty="0"/>
          </a:p>
        </p:txBody>
      </p:sp>
      <p:sp>
        <p:nvSpPr>
          <p:cNvPr id="8" name="Text 6"/>
          <p:cNvSpPr/>
          <p:nvPr/>
        </p:nvSpPr>
        <p:spPr>
          <a:xfrm>
            <a:off x="1389888" y="1993392"/>
            <a:ext cx="2743200" cy="274320"/>
          </a:xfrm>
          <a:prstGeom prst="rect">
            <a:avLst/>
          </a:prstGeom>
          <a:noFill/>
          <a:ln/>
        </p:spPr>
        <p:txBody>
          <a:bodyPr wrap="square" lIns="0" tIns="0" rIns="0" bIns="0" rtlCol="0" anchor="ctr"/>
          <a:lstStyle/>
          <a:p>
            <a:pPr indent="0" marL="0">
              <a:buNone/>
            </a:pPr>
            <a:r>
              <a:rPr lang="en-US" sz="1100" dirty="0">
                <a:solidFill>
                  <a:srgbClr val="C1502E"/>
                </a:solidFill>
                <a:latin typeface="Calibri" pitchFamily="34" charset="0"/>
                <a:ea typeface="Calibri" pitchFamily="34" charset="-122"/>
                <a:cs typeface="Calibri" pitchFamily="34" charset="-120"/>
              </a:rPr>
              <a:t>Rejects requests with no valid token</a:t>
            </a:r>
            <a:endParaRPr lang="en-US" sz="1100" dirty="0"/>
          </a:p>
        </p:txBody>
      </p:sp>
      <p:sp>
        <p:nvSpPr>
          <p:cNvPr id="9" name="Text 7"/>
          <p:cNvSpPr/>
          <p:nvPr/>
        </p:nvSpPr>
        <p:spPr>
          <a:xfrm>
            <a:off x="4480560" y="1828800"/>
            <a:ext cx="685800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Knows the token is valid — not what the request means</a:t>
            </a:r>
            <a:endParaRPr lang="en-US" sz="1250" dirty="0"/>
          </a:p>
        </p:txBody>
      </p:sp>
      <p:sp>
        <p:nvSpPr>
          <p:cNvPr id="10" name="Shape 8"/>
          <p:cNvSpPr/>
          <p:nvPr/>
        </p:nvSpPr>
        <p:spPr>
          <a:xfrm>
            <a:off x="548640" y="2542032"/>
            <a:ext cx="11064240" cy="822960"/>
          </a:xfrm>
          <a:prstGeom prst="roundRect">
            <a:avLst>
              <a:gd name="adj" fmla="val 10000"/>
            </a:avLst>
          </a:prstGeom>
          <a:solidFill>
            <a:srgbClr val="F7F5EF"/>
          </a:solidFill>
          <a:ln/>
          <a:effectLst>
            <a:outerShdw sx="100000" sy="100000" kx="0" ky="0" algn="bl" rotWithShape="0" blurRad="101600" dist="25400" dir="5400000">
              <a:srgbClr val="000000">
                <a:alpha val="14000"/>
              </a:srgbClr>
            </a:outerShdw>
          </a:effectLst>
        </p:spPr>
      </p:sp>
      <p:sp>
        <p:nvSpPr>
          <p:cNvPr id="11" name="Shape 9"/>
          <p:cNvSpPr/>
          <p:nvPr/>
        </p:nvSpPr>
        <p:spPr>
          <a:xfrm>
            <a:off x="777240" y="2715768"/>
            <a:ext cx="475488" cy="475488"/>
          </a:xfrm>
          <a:prstGeom prst="ellipse">
            <a:avLst/>
          </a:prstGeom>
          <a:solidFill>
            <a:srgbClr val="1F4A2C"/>
          </a:solidFill>
          <a:ln/>
        </p:spPr>
      </p:sp>
      <p:sp>
        <p:nvSpPr>
          <p:cNvPr id="12" name="Text 10"/>
          <p:cNvSpPr/>
          <p:nvPr/>
        </p:nvSpPr>
        <p:spPr>
          <a:xfrm>
            <a:off x="777240" y="271576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389888" y="2660904"/>
            <a:ext cx="237744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Service filter chain</a:t>
            </a:r>
            <a:endParaRPr lang="en-US" sz="1350" dirty="0"/>
          </a:p>
        </p:txBody>
      </p:sp>
      <p:sp>
        <p:nvSpPr>
          <p:cNvPr id="14" name="Text 12"/>
          <p:cNvSpPr/>
          <p:nvPr/>
        </p:nvSpPr>
        <p:spPr>
          <a:xfrm>
            <a:off x="1389888" y="2962656"/>
            <a:ext cx="2743200" cy="274320"/>
          </a:xfrm>
          <a:prstGeom prst="rect">
            <a:avLst/>
          </a:prstGeom>
          <a:noFill/>
          <a:ln/>
        </p:spPr>
        <p:txBody>
          <a:bodyPr wrap="square" lIns="0" tIns="0" rIns="0" bIns="0" rtlCol="0" anchor="ctr"/>
          <a:lstStyle/>
          <a:p>
            <a:pPr indent="0" marL="0">
              <a:buNone/>
            </a:pPr>
            <a:r>
              <a:rPr lang="en-US" sz="1100" dirty="0">
                <a:solidFill>
                  <a:srgbClr val="C1502E"/>
                </a:solidFill>
                <a:latin typeface="Calibri" pitchFamily="34" charset="0"/>
                <a:ea typeface="Calibri" pitchFamily="34" charset="-122"/>
                <a:cs typeface="Calibri" pitchFamily="34" charset="-120"/>
              </a:rPr>
              <a:t>Re-validates the same token</a:t>
            </a:r>
            <a:endParaRPr lang="en-US" sz="1100" dirty="0"/>
          </a:p>
        </p:txBody>
      </p:sp>
      <p:sp>
        <p:nvSpPr>
          <p:cNvPr id="15" name="Text 13"/>
          <p:cNvSpPr/>
          <p:nvPr/>
        </p:nvSpPr>
        <p:spPr>
          <a:xfrm>
            <a:off x="4480560" y="2798064"/>
            <a:ext cx="685800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Redundant by design: a service reached directly stays protected</a:t>
            </a:r>
            <a:endParaRPr lang="en-US" sz="1250" dirty="0"/>
          </a:p>
        </p:txBody>
      </p:sp>
      <p:sp>
        <p:nvSpPr>
          <p:cNvPr id="16" name="Shape 14"/>
          <p:cNvSpPr/>
          <p:nvPr/>
        </p:nvSpPr>
        <p:spPr>
          <a:xfrm>
            <a:off x="548640" y="3511296"/>
            <a:ext cx="11064240" cy="822960"/>
          </a:xfrm>
          <a:prstGeom prst="roundRect">
            <a:avLst>
              <a:gd name="adj" fmla="val 10000"/>
            </a:avLst>
          </a:prstGeom>
          <a:solidFill>
            <a:srgbClr val="F7F5EF"/>
          </a:solidFill>
          <a:ln/>
          <a:effectLst>
            <a:outerShdw sx="100000" sy="100000" kx="0" ky="0" algn="bl" rotWithShape="0" blurRad="101600" dist="25400" dir="5400000">
              <a:srgbClr val="000000">
                <a:alpha val="14000"/>
              </a:srgbClr>
            </a:outerShdw>
          </a:effectLst>
        </p:spPr>
      </p:sp>
      <p:sp>
        <p:nvSpPr>
          <p:cNvPr id="17" name="Shape 15"/>
          <p:cNvSpPr/>
          <p:nvPr/>
        </p:nvSpPr>
        <p:spPr>
          <a:xfrm>
            <a:off x="777240" y="3685032"/>
            <a:ext cx="475488" cy="475488"/>
          </a:xfrm>
          <a:prstGeom prst="ellipse">
            <a:avLst/>
          </a:prstGeom>
          <a:solidFill>
            <a:srgbClr val="1F4A2C"/>
          </a:solidFill>
          <a:ln/>
        </p:spPr>
      </p:sp>
      <p:sp>
        <p:nvSpPr>
          <p:cNvPr id="18" name="Text 16"/>
          <p:cNvSpPr/>
          <p:nvPr/>
        </p:nvSpPr>
        <p:spPr>
          <a:xfrm>
            <a:off x="777240" y="368503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1389888" y="3630168"/>
            <a:ext cx="237744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@PreAuthorize</a:t>
            </a:r>
            <a:endParaRPr lang="en-US" sz="1350" dirty="0"/>
          </a:p>
        </p:txBody>
      </p:sp>
      <p:sp>
        <p:nvSpPr>
          <p:cNvPr id="20" name="Text 18"/>
          <p:cNvSpPr/>
          <p:nvPr/>
        </p:nvSpPr>
        <p:spPr>
          <a:xfrm>
            <a:off x="1389888" y="3931920"/>
            <a:ext cx="2743200" cy="274320"/>
          </a:xfrm>
          <a:prstGeom prst="rect">
            <a:avLst/>
          </a:prstGeom>
          <a:noFill/>
          <a:ln/>
        </p:spPr>
        <p:txBody>
          <a:bodyPr wrap="square" lIns="0" tIns="0" rIns="0" bIns="0" rtlCol="0" anchor="ctr"/>
          <a:lstStyle/>
          <a:p>
            <a:pPr indent="0" marL="0">
              <a:buNone/>
            </a:pPr>
            <a:r>
              <a:rPr lang="en-US" sz="1100" dirty="0">
                <a:solidFill>
                  <a:srgbClr val="C1502E"/>
                </a:solidFill>
                <a:latin typeface="Calibri" pitchFamily="34" charset="0"/>
                <a:ea typeface="Calibri" pitchFamily="34" charset="-122"/>
                <a:cs typeface="Calibri" pitchFamily="34" charset="-120"/>
              </a:rPr>
              <a:t>Checks the required role</a:t>
            </a:r>
            <a:endParaRPr lang="en-US" sz="1100" dirty="0"/>
          </a:p>
        </p:txBody>
      </p:sp>
      <p:sp>
        <p:nvSpPr>
          <p:cNvPr id="21" name="Text 19"/>
          <p:cNvSpPr/>
          <p:nvPr/>
        </p:nvSpPr>
        <p:spPr>
          <a:xfrm>
            <a:off x="4480560" y="3767328"/>
            <a:ext cx="685800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Knows the operation's role requirement</a:t>
            </a:r>
            <a:endParaRPr lang="en-US" sz="1250" dirty="0"/>
          </a:p>
        </p:txBody>
      </p:sp>
      <p:sp>
        <p:nvSpPr>
          <p:cNvPr id="22" name="Shape 20"/>
          <p:cNvSpPr/>
          <p:nvPr/>
        </p:nvSpPr>
        <p:spPr>
          <a:xfrm>
            <a:off x="548640" y="4480560"/>
            <a:ext cx="11064240" cy="822960"/>
          </a:xfrm>
          <a:prstGeom prst="roundRect">
            <a:avLst>
              <a:gd name="adj" fmla="val 10000"/>
            </a:avLst>
          </a:prstGeom>
          <a:solidFill>
            <a:srgbClr val="F7F5EF"/>
          </a:solidFill>
          <a:ln/>
          <a:effectLst>
            <a:outerShdw sx="100000" sy="100000" kx="0" ky="0" algn="bl" rotWithShape="0" blurRad="101600" dist="25400" dir="5400000">
              <a:srgbClr val="000000">
                <a:alpha val="14000"/>
              </a:srgbClr>
            </a:outerShdw>
          </a:effectLst>
        </p:spPr>
      </p:sp>
      <p:sp>
        <p:nvSpPr>
          <p:cNvPr id="23" name="Shape 21"/>
          <p:cNvSpPr/>
          <p:nvPr/>
        </p:nvSpPr>
        <p:spPr>
          <a:xfrm>
            <a:off x="777240" y="4654296"/>
            <a:ext cx="475488" cy="475488"/>
          </a:xfrm>
          <a:prstGeom prst="ellipse">
            <a:avLst/>
          </a:prstGeom>
          <a:solidFill>
            <a:srgbClr val="1F4A2C"/>
          </a:solidFill>
          <a:ln/>
        </p:spPr>
      </p:sp>
      <p:sp>
        <p:nvSpPr>
          <p:cNvPr id="24" name="Text 22"/>
          <p:cNvSpPr/>
          <p:nvPr/>
        </p:nvSpPr>
        <p:spPr>
          <a:xfrm>
            <a:off x="777240" y="46542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1389888" y="4599432"/>
            <a:ext cx="237744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Service layer</a:t>
            </a:r>
            <a:endParaRPr lang="en-US" sz="1350" dirty="0"/>
          </a:p>
        </p:txBody>
      </p:sp>
      <p:sp>
        <p:nvSpPr>
          <p:cNvPr id="26" name="Text 24"/>
          <p:cNvSpPr/>
          <p:nvPr/>
        </p:nvSpPr>
        <p:spPr>
          <a:xfrm>
            <a:off x="1389888" y="4901184"/>
            <a:ext cx="2743200" cy="274320"/>
          </a:xfrm>
          <a:prstGeom prst="rect">
            <a:avLst/>
          </a:prstGeom>
          <a:noFill/>
          <a:ln/>
        </p:spPr>
        <p:txBody>
          <a:bodyPr wrap="square" lIns="0" tIns="0" rIns="0" bIns="0" rtlCol="0" anchor="ctr"/>
          <a:lstStyle/>
          <a:p>
            <a:pPr indent="0" marL="0">
              <a:buNone/>
            </a:pPr>
            <a:r>
              <a:rPr lang="en-US" sz="1100" dirty="0">
                <a:solidFill>
                  <a:srgbClr val="C1502E"/>
                </a:solidFill>
                <a:latin typeface="Calibri" pitchFamily="34" charset="0"/>
                <a:ea typeface="Calibri" pitchFamily="34" charset="-122"/>
                <a:cs typeface="Calibri" pitchFamily="34" charset="-120"/>
              </a:rPr>
              <a:t>Checks resource ownership</a:t>
            </a:r>
            <a:endParaRPr lang="en-US" sz="1100" dirty="0"/>
          </a:p>
        </p:txBody>
      </p:sp>
      <p:sp>
        <p:nvSpPr>
          <p:cNvPr id="27" name="Text 25"/>
          <p:cNvSpPr/>
          <p:nvPr/>
        </p:nvSpPr>
        <p:spPr>
          <a:xfrm>
            <a:off x="4480560" y="4736592"/>
            <a:ext cx="6858000" cy="36576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The only layer that knows whether user 7 owns land 42</a:t>
            </a:r>
            <a:endParaRPr lang="en-US" sz="1250" dirty="0"/>
          </a:p>
        </p:txBody>
      </p:sp>
      <p:sp>
        <p:nvSpPr>
          <p:cNvPr id="28" name="Text 26"/>
          <p:cNvSpPr/>
          <p:nvPr/>
        </p:nvSpPr>
        <p:spPr>
          <a:xfrm>
            <a:off x="548640" y="5577840"/>
            <a:ext cx="3520440" cy="274320"/>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BCrypt cost 10</a:t>
            </a:r>
            <a:endParaRPr lang="en-US" sz="1250" dirty="0"/>
          </a:p>
        </p:txBody>
      </p:sp>
      <p:sp>
        <p:nvSpPr>
          <p:cNvPr id="29" name="Text 27"/>
          <p:cNvSpPr/>
          <p:nvPr/>
        </p:nvSpPr>
        <p:spPr>
          <a:xfrm>
            <a:off x="548640" y="5852160"/>
            <a:ext cx="3520440" cy="457200"/>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plaintext never leaves the DTO layer</a:t>
            </a:r>
            <a:endParaRPr lang="en-US" sz="1100" dirty="0"/>
          </a:p>
        </p:txBody>
      </p:sp>
      <p:sp>
        <p:nvSpPr>
          <p:cNvPr id="30" name="Text 28"/>
          <p:cNvSpPr/>
          <p:nvPr/>
        </p:nvSpPr>
        <p:spPr>
          <a:xfrm>
            <a:off x="4279392" y="5577840"/>
            <a:ext cx="3520440" cy="274320"/>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Constant-time login</a:t>
            </a:r>
            <a:endParaRPr lang="en-US" sz="1250" dirty="0"/>
          </a:p>
        </p:txBody>
      </p:sp>
      <p:sp>
        <p:nvSpPr>
          <p:cNvPr id="31" name="Text 29"/>
          <p:cNvSpPr/>
          <p:nvPr/>
        </p:nvSpPr>
        <p:spPr>
          <a:xfrm>
            <a:off x="4279392" y="5852160"/>
            <a:ext cx="3520440" cy="457200"/>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a dummy hash runs even for unknown emails</a:t>
            </a:r>
            <a:endParaRPr lang="en-US" sz="1100" dirty="0"/>
          </a:p>
        </p:txBody>
      </p:sp>
      <p:sp>
        <p:nvSpPr>
          <p:cNvPr id="32" name="Text 30"/>
          <p:cNvSpPr/>
          <p:nvPr/>
        </p:nvSpPr>
        <p:spPr>
          <a:xfrm>
            <a:off x="8010144" y="5577840"/>
            <a:ext cx="3520440" cy="274320"/>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404, not 403</a:t>
            </a:r>
            <a:endParaRPr lang="en-US" sz="1250" dirty="0"/>
          </a:p>
        </p:txBody>
      </p:sp>
      <p:sp>
        <p:nvSpPr>
          <p:cNvPr id="33" name="Text 31"/>
          <p:cNvSpPr/>
          <p:nvPr/>
        </p:nvSpPr>
        <p:spPr>
          <a:xfrm>
            <a:off x="8010144" y="5852160"/>
            <a:ext cx="3520440" cy="457200"/>
          </a:xfrm>
          <a:prstGeom prst="rect">
            <a:avLst/>
          </a:prstGeom>
          <a:noFill/>
          <a:ln/>
        </p:spPr>
        <p:txBody>
          <a:bodyPr wrap="square" lIns="0" tIns="0" rIns="0" bIns="0" rtlCol="0" anchor="ctr"/>
          <a:lstStyle/>
          <a:p>
            <a:pPr indent="0" marL="0">
              <a:buNone/>
            </a:pPr>
            <a:r>
              <a:rPr lang="en-US" sz="1100" dirty="0">
                <a:solidFill>
                  <a:srgbClr val="5C6154"/>
                </a:solidFill>
                <a:latin typeface="Calibri" pitchFamily="34" charset="0"/>
                <a:ea typeface="Calibri" pitchFamily="34" charset="-122"/>
                <a:cs typeface="Calibri" pitchFamily="34" charset="-120"/>
              </a:rPr>
              <a:t>so id enumeration reveals nothing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DATABASES</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Two engines, chosen per workload</a:t>
            </a:r>
            <a:endParaRPr lang="en-US" sz="3400" dirty="0"/>
          </a:p>
        </p:txBody>
      </p:sp>
      <p:sp>
        <p:nvSpPr>
          <p:cNvPr id="4" name="Shape 2"/>
          <p:cNvSpPr/>
          <p:nvPr/>
        </p:nvSpPr>
        <p:spPr>
          <a:xfrm>
            <a:off x="548640" y="1554480"/>
            <a:ext cx="5394960" cy="3200400"/>
          </a:xfrm>
          <a:prstGeom prst="roundRect">
            <a:avLst>
              <a:gd name="adj" fmla="val 2571"/>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868680" y="1810512"/>
            <a:ext cx="475488" cy="475488"/>
          </a:xfrm>
          <a:prstGeom prst="ellipse">
            <a:avLst/>
          </a:prstGeom>
          <a:solidFill>
            <a:srgbClr val="1F4A2C"/>
          </a:solidFill>
          <a:ln/>
        </p:spPr>
      </p:sp>
      <p:sp>
        <p:nvSpPr>
          <p:cNvPr id="6" name="Text 4"/>
          <p:cNvSpPr/>
          <p:nvPr/>
        </p:nvSpPr>
        <p:spPr>
          <a:xfrm>
            <a:off x="868680" y="18105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7" name="Text 5"/>
          <p:cNvSpPr/>
          <p:nvPr/>
        </p:nvSpPr>
        <p:spPr>
          <a:xfrm>
            <a:off x="1508760" y="1847088"/>
            <a:ext cx="4114800" cy="329184"/>
          </a:xfrm>
          <a:prstGeom prst="rect">
            <a:avLst/>
          </a:prstGeom>
          <a:noFill/>
          <a:ln/>
        </p:spPr>
        <p:txBody>
          <a:bodyPr wrap="square" lIns="0" tIns="0" rIns="0" bIns="0" rtlCol="0" anchor="ctr"/>
          <a:lstStyle/>
          <a:p>
            <a:pPr indent="0" marL="0">
              <a:buNone/>
            </a:pPr>
            <a:r>
              <a:rPr lang="en-US" sz="1600" b="1" dirty="0">
                <a:solidFill>
                  <a:srgbClr val="1F4A2C"/>
                </a:solidFill>
                <a:latin typeface="Calibri" pitchFamily="34" charset="0"/>
                <a:ea typeface="Calibri" pitchFamily="34" charset="-122"/>
                <a:cs typeface="Calibri" pitchFamily="34" charset="-120"/>
              </a:rPr>
              <a:t>MySQL 8.4 — relational</a:t>
            </a:r>
            <a:endParaRPr lang="en-US" sz="1600" dirty="0"/>
          </a:p>
        </p:txBody>
      </p:sp>
      <p:sp>
        <p:nvSpPr>
          <p:cNvPr id="8" name="Text 6"/>
          <p:cNvSpPr/>
          <p:nvPr/>
        </p:nvSpPr>
        <p:spPr>
          <a:xfrm>
            <a:off x="868680" y="2395728"/>
            <a:ext cx="4754880" cy="274320"/>
          </a:xfrm>
          <a:prstGeom prst="rect">
            <a:avLst/>
          </a:prstGeom>
          <a:noFill/>
          <a:ln/>
        </p:spPr>
        <p:txBody>
          <a:bodyPr wrap="square" lIns="0" tIns="0" rIns="0" bIns="0" rtlCol="0" anchor="ctr"/>
          <a:lstStyle/>
          <a:p>
            <a:pPr indent="0" marL="0">
              <a:buNone/>
            </a:pPr>
            <a:r>
              <a:rPr lang="en-US" sz="1150" dirty="0">
                <a:solidFill>
                  <a:srgbClr val="C1502E"/>
                </a:solidFill>
                <a:latin typeface="Calibri" pitchFamily="34" charset="0"/>
                <a:ea typeface="Calibri" pitchFamily="34" charset="-122"/>
                <a:cs typeface="Calibri" pitchFamily="34" charset="-120"/>
              </a:rPr>
              <a:t>earthscan_auth  ·  earthscan_land</a:t>
            </a:r>
            <a:endParaRPr lang="en-US" sz="1150" dirty="0"/>
          </a:p>
        </p:txBody>
      </p:sp>
      <p:sp>
        <p:nvSpPr>
          <p:cNvPr id="9" name="Text 7"/>
          <p:cNvSpPr/>
          <p:nvPr/>
        </p:nvSpPr>
        <p:spPr>
          <a:xfrm>
            <a:off x="868680" y="2743200"/>
            <a:ext cx="4754880" cy="18745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Normalised to 3NF; roles promoted to their own table</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Range queries, district aggregates and composite indexes are the whole workload</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DECIMAL(18,2) for money — land runs to crores and floats cannot hold them exactly</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ACID matters for credentials</a:t>
            </a:r>
            <a:endParaRPr lang="en-US" sz="1200" dirty="0"/>
          </a:p>
        </p:txBody>
      </p:sp>
      <p:sp>
        <p:nvSpPr>
          <p:cNvPr id="10" name="Shape 8"/>
          <p:cNvSpPr/>
          <p:nvPr/>
        </p:nvSpPr>
        <p:spPr>
          <a:xfrm>
            <a:off x="6217920" y="1554480"/>
            <a:ext cx="5394960" cy="3200400"/>
          </a:xfrm>
          <a:prstGeom prst="roundRect">
            <a:avLst>
              <a:gd name="adj" fmla="val 2571"/>
            </a:avLst>
          </a:prstGeom>
          <a:solidFill>
            <a:srgbClr val="E8F0DA"/>
          </a:solidFill>
          <a:ln/>
          <a:effectLst>
            <a:outerShdw sx="100000" sy="100000" kx="0" ky="0" algn="bl" rotWithShape="0" blurRad="101600" dist="25400" dir="5400000">
              <a:srgbClr val="000000">
                <a:alpha val="14000"/>
              </a:srgbClr>
            </a:outerShdw>
          </a:effectLst>
        </p:spPr>
      </p:sp>
      <p:sp>
        <p:nvSpPr>
          <p:cNvPr id="11" name="Shape 9"/>
          <p:cNvSpPr/>
          <p:nvPr/>
        </p:nvSpPr>
        <p:spPr>
          <a:xfrm>
            <a:off x="6537960" y="1810512"/>
            <a:ext cx="475488" cy="475488"/>
          </a:xfrm>
          <a:prstGeom prst="ellipse">
            <a:avLst/>
          </a:prstGeom>
          <a:solidFill>
            <a:srgbClr val="97BC62"/>
          </a:solidFill>
          <a:ln/>
        </p:spPr>
      </p:sp>
      <p:sp>
        <p:nvSpPr>
          <p:cNvPr id="12" name="Text 10"/>
          <p:cNvSpPr/>
          <p:nvPr/>
        </p:nvSpPr>
        <p:spPr>
          <a:xfrm>
            <a:off x="6537960" y="1810512"/>
            <a:ext cx="475488" cy="475488"/>
          </a:xfrm>
          <a:prstGeom prst="rect">
            <a:avLst/>
          </a:prstGeom>
          <a:noFill/>
          <a:ln/>
        </p:spPr>
        <p:txBody>
          <a:bodyPr wrap="square" lIns="0" tIns="0" rIns="0" bIns="0" rtlCol="0" anchor="ctr"/>
          <a:lstStyle/>
          <a:p>
            <a:pPr algn="ctr" indent="0" marL="0">
              <a:buNone/>
            </a:pPr>
            <a:r>
              <a:rPr lang="en-US" sz="2000" b="1" dirty="0">
                <a:solidFill>
                  <a:srgbClr val="13301C"/>
                </a:solidFill>
                <a:latin typeface="Calibri" pitchFamily="34" charset="0"/>
                <a:ea typeface="Calibri" pitchFamily="34" charset="-122"/>
                <a:cs typeface="Calibri" pitchFamily="34" charset="-120"/>
              </a:rPr>
              <a:t>D</a:t>
            </a:r>
            <a:endParaRPr lang="en-US" sz="2000" dirty="0"/>
          </a:p>
        </p:txBody>
      </p:sp>
      <p:sp>
        <p:nvSpPr>
          <p:cNvPr id="13" name="Text 11"/>
          <p:cNvSpPr/>
          <p:nvPr/>
        </p:nvSpPr>
        <p:spPr>
          <a:xfrm>
            <a:off x="7178040" y="1847088"/>
            <a:ext cx="4114800" cy="329184"/>
          </a:xfrm>
          <a:prstGeom prst="rect">
            <a:avLst/>
          </a:prstGeom>
          <a:noFill/>
          <a:ln/>
        </p:spPr>
        <p:txBody>
          <a:bodyPr wrap="square" lIns="0" tIns="0" rIns="0" bIns="0" rtlCol="0" anchor="ctr"/>
          <a:lstStyle/>
          <a:p>
            <a:pPr indent="0" marL="0">
              <a:buNone/>
            </a:pPr>
            <a:r>
              <a:rPr lang="en-US" sz="1600" b="1" dirty="0">
                <a:solidFill>
                  <a:srgbClr val="1F4A2C"/>
                </a:solidFill>
                <a:latin typeface="Calibri" pitchFamily="34" charset="0"/>
                <a:ea typeface="Calibri" pitchFamily="34" charset="-122"/>
                <a:cs typeface="Calibri" pitchFamily="34" charset="-120"/>
              </a:rPr>
              <a:t>MongoDB 7 — document</a:t>
            </a:r>
            <a:endParaRPr lang="en-US" sz="1600" dirty="0"/>
          </a:p>
        </p:txBody>
      </p:sp>
      <p:sp>
        <p:nvSpPr>
          <p:cNvPr id="14" name="Text 12"/>
          <p:cNvSpPr/>
          <p:nvPr/>
        </p:nvSpPr>
        <p:spPr>
          <a:xfrm>
            <a:off x="6537960" y="2395728"/>
            <a:ext cx="4754880" cy="274320"/>
          </a:xfrm>
          <a:prstGeom prst="rect">
            <a:avLst/>
          </a:prstGeom>
          <a:noFill/>
          <a:ln/>
        </p:spPr>
        <p:txBody>
          <a:bodyPr wrap="square" lIns="0" tIns="0" rIns="0" bIns="0" rtlCol="0" anchor="ctr"/>
          <a:lstStyle/>
          <a:p>
            <a:pPr indent="0" marL="0">
              <a:buNone/>
            </a:pPr>
            <a:r>
              <a:rPr lang="en-US" sz="1150" dirty="0">
                <a:solidFill>
                  <a:srgbClr val="C1502E"/>
                </a:solidFill>
                <a:latin typeface="Calibri" pitchFamily="34" charset="0"/>
                <a:ea typeface="Calibri" pitchFamily="34" charset="-122"/>
                <a:cs typeface="Calibri" pitchFamily="34" charset="-120"/>
              </a:rPr>
              <a:t>earthscan_forum  ·  earthscan_notifications</a:t>
            </a:r>
            <a:endParaRPr lang="en-US" sz="1150" dirty="0"/>
          </a:p>
        </p:txBody>
      </p:sp>
      <p:sp>
        <p:nvSpPr>
          <p:cNvPr id="15" name="Text 13"/>
          <p:cNvSpPr/>
          <p:nvPr/>
        </p:nvSpPr>
        <p:spPr>
          <a:xfrm>
            <a:off x="6537960" y="2743200"/>
            <a:ext cx="4754880" cy="18745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A thread is one document with its replies embedded</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Relationally this was two tables joined on every page load — the comment rows existed only to be reassembled</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Notifications are append-heavy with one narrow read pattern</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A unique index gives consumer idempotency for free</a:t>
            </a:r>
            <a:endParaRPr lang="en-US" sz="1200" dirty="0"/>
          </a:p>
        </p:txBody>
      </p:sp>
      <p:sp>
        <p:nvSpPr>
          <p:cNvPr id="16" name="Shape 14"/>
          <p:cNvSpPr/>
          <p:nvPr/>
        </p:nvSpPr>
        <p:spPr>
          <a:xfrm>
            <a:off x="548640" y="4956048"/>
            <a:ext cx="11064240" cy="1371600"/>
          </a:xfrm>
          <a:prstGeom prst="roundRect">
            <a:avLst>
              <a:gd name="adj" fmla="val 6000"/>
            </a:avLst>
          </a:prstGeom>
          <a:solidFill>
            <a:srgbClr val="FBEDE7"/>
          </a:solidFill>
          <a:ln/>
          <a:effectLst>
            <a:outerShdw sx="100000" sy="100000" kx="0" ky="0" algn="bl" rotWithShape="0" blurRad="101600" dist="25400" dir="5400000">
              <a:srgbClr val="000000">
                <a:alpha val="14000"/>
              </a:srgbClr>
            </a:outerShdw>
          </a:effectLst>
        </p:spPr>
      </p:sp>
      <p:sp>
        <p:nvSpPr>
          <p:cNvPr id="17" name="Text 15"/>
          <p:cNvSpPr/>
          <p:nvPr/>
        </p:nvSpPr>
        <p:spPr>
          <a:xfrm>
            <a:off x="868680" y="5102352"/>
            <a:ext cx="4572000" cy="274320"/>
          </a:xfrm>
          <a:prstGeom prst="rect">
            <a:avLst/>
          </a:prstGeom>
          <a:noFill/>
          <a:ln/>
        </p:spPr>
        <p:txBody>
          <a:bodyPr wrap="square" lIns="0" tIns="0" rIns="0" bIns="0" rtlCol="0" anchor="ctr"/>
          <a:lstStyle/>
          <a:p>
            <a:pPr indent="0" marL="0">
              <a:buNone/>
            </a:pPr>
            <a:r>
              <a:rPr lang="en-US" sz="1300" b="1" dirty="0">
                <a:solidFill>
                  <a:srgbClr val="C1502E"/>
                </a:solidFill>
                <a:latin typeface="Calibri" pitchFamily="34" charset="0"/>
                <a:ea typeface="Calibri" pitchFamily="34" charset="-122"/>
                <a:cs typeface="Calibri" pitchFamily="34" charset="-120"/>
              </a:rPr>
              <a:t>The costs of two engines</a:t>
            </a:r>
            <a:endParaRPr lang="en-US" sz="1300" dirty="0"/>
          </a:p>
        </p:txBody>
      </p:sp>
      <p:sp>
        <p:nvSpPr>
          <p:cNvPr id="18" name="Text 16"/>
          <p:cNvSpPr/>
          <p:nvPr/>
        </p:nvSpPr>
        <p:spPr>
          <a:xfrm>
            <a:off x="868680" y="5413248"/>
            <a:ext cx="10424160" cy="82296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Two operational skill sets · no cross-database join or transaction · two unrelated failure modes and runbooks · more local setup.  One PostgreSQL instance with a JSONB column would be a defensible and simpler choice at this scale; two engines was an explicit requirement.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SCHEMA DESIGN</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Normalisation: role as a column was an anomaly waiting to happen</a:t>
            </a:r>
            <a:endParaRPr lang="en-US" sz="3400" dirty="0"/>
          </a:p>
        </p:txBody>
      </p:sp>
      <p:sp>
        <p:nvSpPr>
          <p:cNvPr id="4" name="Shape 2"/>
          <p:cNvSpPr/>
          <p:nvPr/>
        </p:nvSpPr>
        <p:spPr>
          <a:xfrm>
            <a:off x="548640" y="1554480"/>
            <a:ext cx="5394960" cy="2286000"/>
          </a:xfrm>
          <a:prstGeom prst="roundRect">
            <a:avLst>
              <a:gd name="adj" fmla="val 3600"/>
            </a:avLst>
          </a:prstGeom>
          <a:solidFill>
            <a:srgbClr val="FBEDE7"/>
          </a:solidFill>
          <a:ln/>
          <a:effectLst>
            <a:outerShdw sx="100000" sy="100000" kx="0" ky="0" algn="bl" rotWithShape="0" blurRad="101600" dist="25400" dir="5400000">
              <a:srgbClr val="000000">
                <a:alpha val="14000"/>
              </a:srgbClr>
            </a:outerShdw>
          </a:effectLst>
        </p:spPr>
      </p:sp>
      <p:sp>
        <p:nvSpPr>
          <p:cNvPr id="5" name="Text 3"/>
          <p:cNvSpPr/>
          <p:nvPr/>
        </p:nvSpPr>
        <p:spPr>
          <a:xfrm>
            <a:off x="868680" y="1737360"/>
            <a:ext cx="2743200" cy="256032"/>
          </a:xfrm>
          <a:prstGeom prst="rect">
            <a:avLst/>
          </a:prstGeom>
          <a:noFill/>
          <a:ln/>
        </p:spPr>
        <p:txBody>
          <a:bodyPr wrap="square" lIns="0" tIns="0" rIns="0" bIns="0" rtlCol="0" anchor="ctr"/>
          <a:lstStyle/>
          <a:p>
            <a:pPr indent="0" marL="0">
              <a:buNone/>
            </a:pPr>
            <a:r>
              <a:rPr lang="en-US" sz="1100" b="1" spc="200" kern="0" dirty="0">
                <a:solidFill>
                  <a:srgbClr val="C1502E"/>
                </a:solidFill>
                <a:latin typeface="Calibri" pitchFamily="34" charset="0"/>
                <a:ea typeface="Calibri" pitchFamily="34" charset="-122"/>
                <a:cs typeface="Calibri" pitchFamily="34" charset="-120"/>
              </a:rPr>
              <a:t>BEFORE</a:t>
            </a:r>
            <a:endParaRPr lang="en-US" sz="1100" dirty="0"/>
          </a:p>
        </p:txBody>
      </p:sp>
      <p:sp>
        <p:nvSpPr>
          <p:cNvPr id="6" name="Text 4"/>
          <p:cNvSpPr/>
          <p:nvPr/>
        </p:nvSpPr>
        <p:spPr>
          <a:xfrm>
            <a:off x="868680" y="2048256"/>
            <a:ext cx="4754880" cy="310896"/>
          </a:xfrm>
          <a:prstGeom prst="rect">
            <a:avLst/>
          </a:prstGeom>
          <a:noFill/>
          <a:ln/>
        </p:spPr>
        <p:txBody>
          <a:bodyPr wrap="square" lIns="0" tIns="0" rIns="0" bIns="0" rtlCol="0" anchor="ctr"/>
          <a:lstStyle/>
          <a:p>
            <a:pPr indent="0" marL="0">
              <a:buNone/>
            </a:pPr>
            <a:r>
              <a:rPr lang="en-US" sz="1400" b="1" dirty="0">
                <a:solidFill>
                  <a:srgbClr val="24261F"/>
                </a:solidFill>
                <a:latin typeface="Courier New" pitchFamily="34" charset="0"/>
                <a:ea typeface="Courier New" pitchFamily="34" charset="-122"/>
                <a:cs typeface="Courier New" pitchFamily="34" charset="-120"/>
              </a:rPr>
              <a:t>Users.Role  VARCHAR(20)</a:t>
            </a:r>
            <a:endParaRPr lang="en-US" sz="1400" dirty="0"/>
          </a:p>
        </p:txBody>
      </p:sp>
      <p:sp>
        <p:nvSpPr>
          <p:cNvPr id="7" name="Text 5"/>
          <p:cNvSpPr/>
          <p:nvPr/>
        </p:nvSpPr>
        <p:spPr>
          <a:xfrm>
            <a:off x="868680" y="2450592"/>
            <a:ext cx="4754880" cy="12344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"Farmer", "farmer", "Framer" all valid — a typo silently created a fifth role</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Renaming a label meant an UPDATE across every user row</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Nowhere to put a description or permission set</a:t>
            </a:r>
            <a:endParaRPr lang="en-US" sz="1200" dirty="0"/>
          </a:p>
        </p:txBody>
      </p:sp>
      <p:sp>
        <p:nvSpPr>
          <p:cNvPr id="8" name="Shape 6"/>
          <p:cNvSpPr/>
          <p:nvPr/>
        </p:nvSpPr>
        <p:spPr>
          <a:xfrm>
            <a:off x="6217920" y="1554480"/>
            <a:ext cx="5394960" cy="2286000"/>
          </a:xfrm>
          <a:prstGeom prst="roundRect">
            <a:avLst>
              <a:gd name="adj" fmla="val 3600"/>
            </a:avLst>
          </a:prstGeom>
          <a:solidFill>
            <a:srgbClr val="E8F0DA"/>
          </a:solidFill>
          <a:ln/>
          <a:effectLst>
            <a:outerShdw sx="100000" sy="100000" kx="0" ky="0" algn="bl" rotWithShape="0" blurRad="101600" dist="25400" dir="5400000">
              <a:srgbClr val="000000">
                <a:alpha val="14000"/>
              </a:srgbClr>
            </a:outerShdw>
          </a:effectLst>
        </p:spPr>
      </p:sp>
      <p:sp>
        <p:nvSpPr>
          <p:cNvPr id="9" name="Text 7"/>
          <p:cNvSpPr/>
          <p:nvPr/>
        </p:nvSpPr>
        <p:spPr>
          <a:xfrm>
            <a:off x="6537960" y="1737360"/>
            <a:ext cx="2743200" cy="256032"/>
          </a:xfrm>
          <a:prstGeom prst="rect">
            <a:avLst/>
          </a:prstGeom>
          <a:noFill/>
          <a:ln/>
        </p:spPr>
        <p:txBody>
          <a:bodyPr wrap="square" lIns="0" tIns="0" rIns="0" bIns="0" rtlCol="0" anchor="ctr"/>
          <a:lstStyle/>
          <a:p>
            <a:pPr indent="0" marL="0">
              <a:buNone/>
            </a:pPr>
            <a:r>
              <a:rPr lang="en-US" sz="1100" b="1" spc="200" kern="0" dirty="0">
                <a:solidFill>
                  <a:srgbClr val="1F4A2C"/>
                </a:solidFill>
                <a:latin typeface="Calibri" pitchFamily="34" charset="0"/>
                <a:ea typeface="Calibri" pitchFamily="34" charset="-122"/>
                <a:cs typeface="Calibri" pitchFamily="34" charset="-120"/>
              </a:rPr>
              <a:t>AFTER</a:t>
            </a:r>
            <a:endParaRPr lang="en-US" sz="1100" dirty="0"/>
          </a:p>
        </p:txBody>
      </p:sp>
      <p:sp>
        <p:nvSpPr>
          <p:cNvPr id="10" name="Text 8"/>
          <p:cNvSpPr/>
          <p:nvPr/>
        </p:nvSpPr>
        <p:spPr>
          <a:xfrm>
            <a:off x="6537960" y="2048256"/>
            <a:ext cx="4754880" cy="310896"/>
          </a:xfrm>
          <a:prstGeom prst="rect">
            <a:avLst/>
          </a:prstGeom>
          <a:noFill/>
          <a:ln/>
        </p:spPr>
        <p:txBody>
          <a:bodyPr wrap="square" lIns="0" tIns="0" rIns="0" bIns="0" rtlCol="0" anchor="ctr"/>
          <a:lstStyle/>
          <a:p>
            <a:pPr indent="0" marL="0">
              <a:buNone/>
            </a:pPr>
            <a:r>
              <a:rPr lang="en-US" sz="1400" b="1" dirty="0">
                <a:solidFill>
                  <a:srgbClr val="24261F"/>
                </a:solidFill>
                <a:latin typeface="Courier New" pitchFamily="34" charset="0"/>
                <a:ea typeface="Courier New" pitchFamily="34" charset="-122"/>
                <a:cs typeface="Courier New" pitchFamily="34" charset="-120"/>
              </a:rPr>
              <a:t>roles  +  user_roles  →  3NF</a:t>
            </a:r>
            <a:endParaRPr lang="en-US" sz="1400" dirty="0"/>
          </a:p>
        </p:txBody>
      </p:sp>
      <p:sp>
        <p:nvSpPr>
          <p:cNvPr id="11" name="Text 9"/>
          <p:cNvSpPr/>
          <p:nvPr/>
        </p:nvSpPr>
        <p:spPr>
          <a:xfrm>
            <a:off x="6537960" y="2450592"/>
            <a:ext cx="4754880" cy="12344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The set of legal roles is enforced by the schema</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Role metadata lives with the role, where it belongs</a:t>
            </a:r>
            <a:endParaRPr lang="en-US" sz="1200" dirty="0"/>
          </a:p>
          <a:p>
            <a:pPr marL="342900" indent="-342900">
              <a:spcAft>
                <a:spcPts val="700"/>
              </a:spcAft>
              <a:buSzPct val="100000"/>
              <a:buChar char="•"/>
            </a:pPr>
            <a:r>
              <a:rPr lang="en-US" sz="1200" dirty="0">
                <a:solidFill>
                  <a:srgbClr val="24261F"/>
                </a:solidFill>
                <a:latin typeface="Calibri" pitchFamily="34" charset="0"/>
                <a:ea typeface="Calibri" pitchFamily="34" charset="-122"/>
                <a:cs typeface="Calibri" pitchFamily="34" charset="-120"/>
              </a:rPr>
              <a:t>Costs one join, served entirely from a two-integer primary key</a:t>
            </a:r>
            <a:endParaRPr lang="en-US" sz="1200" dirty="0"/>
          </a:p>
        </p:txBody>
      </p:sp>
      <p:sp>
        <p:nvSpPr>
          <p:cNvPr id="12" name="Text 10"/>
          <p:cNvSpPr/>
          <p:nvPr/>
        </p:nvSpPr>
        <p:spPr>
          <a:xfrm>
            <a:off x="548640" y="4069080"/>
            <a:ext cx="7315200" cy="365760"/>
          </a:xfrm>
          <a:prstGeom prst="rect">
            <a:avLst/>
          </a:prstGeom>
          <a:noFill/>
          <a:ln/>
        </p:spPr>
        <p:txBody>
          <a:bodyPr wrap="square" lIns="0" tIns="0" rIns="0" bIns="0" rtlCol="0" anchor="ctr"/>
          <a:lstStyle/>
          <a:p>
            <a:pPr indent="0" marL="0">
              <a:buNone/>
            </a:pPr>
            <a:r>
              <a:rPr lang="en-US" sz="1900" b="1" dirty="0">
                <a:solidFill>
                  <a:srgbClr val="1F4A2C"/>
                </a:solidFill>
                <a:latin typeface="Cambria" pitchFamily="34" charset="0"/>
                <a:ea typeface="Cambria" pitchFamily="34" charset="-122"/>
                <a:cs typeface="Cambria" pitchFamily="34" charset="-120"/>
              </a:rPr>
              <a:t>The same fix, applied to soil</a:t>
            </a:r>
            <a:endParaRPr lang="en-US" sz="1900" dirty="0"/>
          </a:p>
        </p:txBody>
      </p:sp>
      <p:sp>
        <p:nvSpPr>
          <p:cNvPr id="13" name="Shape 11"/>
          <p:cNvSpPr/>
          <p:nvPr/>
        </p:nvSpPr>
        <p:spPr>
          <a:xfrm>
            <a:off x="548640" y="4526280"/>
            <a:ext cx="11064240" cy="1783080"/>
          </a:xfrm>
          <a:prstGeom prst="roundRect">
            <a:avLst>
              <a:gd name="adj" fmla="val 4615"/>
            </a:avLst>
          </a:prstGeom>
          <a:solidFill>
            <a:srgbClr val="F7F5EF"/>
          </a:solidFill>
          <a:ln/>
          <a:effectLst>
            <a:outerShdw sx="100000" sy="100000" kx="0" ky="0" algn="bl" rotWithShape="0" blurRad="101600" dist="25400" dir="5400000">
              <a:srgbClr val="000000">
                <a:alpha val="14000"/>
              </a:srgbClr>
            </a:outerShdw>
          </a:effectLst>
        </p:spPr>
      </p:sp>
      <p:sp>
        <p:nvSpPr>
          <p:cNvPr id="14" name="Text 12"/>
          <p:cNvSpPr/>
          <p:nvPr/>
        </p:nvSpPr>
        <p:spPr>
          <a:xfrm>
            <a:off x="868680" y="4700016"/>
            <a:ext cx="10424160" cy="310896"/>
          </a:xfrm>
          <a:prstGeom prst="rect">
            <a:avLst/>
          </a:prstGeom>
          <a:noFill/>
          <a:ln/>
        </p:spPr>
        <p:txBody>
          <a:bodyPr wrap="square" lIns="0" tIns="0" rIns="0" bIns="0" rtlCol="0" anchor="ctr"/>
          <a:lstStyle/>
          <a:p>
            <a:pPr indent="0" marL="0">
              <a:buNone/>
            </a:pPr>
            <a:r>
              <a:rPr lang="en-US" sz="1300" dirty="0">
                <a:solidFill>
                  <a:srgbClr val="C1502E"/>
                </a:solidFill>
                <a:latin typeface="Courier New" pitchFamily="34" charset="0"/>
                <a:ea typeface="Courier New" pitchFamily="34" charset="-122"/>
                <a:cs typeface="Courier New" pitchFamily="34" charset="-120"/>
              </a:rPr>
              <a:t>land.SoilType.Contains("Black")  →  score += 20</a:t>
            </a:r>
            <a:endParaRPr lang="en-US" sz="1300" dirty="0"/>
          </a:p>
        </p:txBody>
      </p:sp>
      <p:sp>
        <p:nvSpPr>
          <p:cNvPr id="15" name="Text 13"/>
          <p:cNvSpPr/>
          <p:nvPr/>
        </p:nvSpPr>
        <p:spPr>
          <a:xfrm>
            <a:off x="868680" y="5047488"/>
            <a:ext cx="10424160" cy="1143000"/>
          </a:xfrm>
          <a:prstGeom prst="rect">
            <a:avLst/>
          </a:prstGeom>
          <a:noFill/>
          <a:ln/>
        </p:spPr>
        <p:txBody>
          <a:bodyPr wrap="square" lIns="0" tIns="0" rIns="0" bIns="0" rtlCol="0" anchor="ctr"/>
          <a:lstStyle/>
          <a:p>
            <a:pPr indent="0" marL="0">
              <a:spcAft>
                <a:spcPts val="500"/>
              </a:spcAft>
              <a:buNone/>
            </a:pPr>
            <a:r>
              <a:rPr lang="en-US" sz="1200" dirty="0">
                <a:solidFill>
                  <a:srgbClr val="24261F"/>
                </a:solidFill>
                <a:latin typeface="Calibri" pitchFamily="34" charset="0"/>
                <a:ea typeface="Calibri" pitchFamily="34" charset="-122"/>
                <a:cs typeface="Calibri" pitchFamily="34" charset="-120"/>
              </a:rPr>
              <a:t>"Deep Black", "Shallow Black", "Medium Black" and "Black Cotton" all scored identically — despite deep regur holding roughly twice the moisture of shallow black soil over murum.</a:t>
            </a:r>
            <a:endParaRPr lang="en-US" sz="1200" dirty="0"/>
          </a:p>
          <a:p>
            <a:pPr indent="0" marL="0">
              <a:spcAft>
                <a:spcPts val="500"/>
              </a:spcAft>
              <a:buNone/>
            </a:pPr>
            <a:r>
              <a:rPr lang="en-US" sz="1200" dirty="0">
                <a:solidFill>
                  <a:srgbClr val="24261F"/>
                </a:solidFill>
                <a:latin typeface="Calibri" pitchFamily="34" charset="0"/>
                <a:ea typeface="Calibri" pitchFamily="34" charset="-122"/>
                <a:cs typeface="Calibri" pitchFamily="34" charset="-120"/>
              </a:rPr>
              <a:t>"Balck Cotton" scored as unknown soil, with no error anywhere.</a:t>
            </a:r>
            <a:endParaRPr lang="en-US" sz="1200" dirty="0"/>
          </a:p>
          <a:p>
            <a:pPr indent="0" marL="0">
              <a:spcAft>
                <a:spcPts val="500"/>
              </a:spcAft>
              <a:buNone/>
            </a:pPr>
            <a:r>
              <a:rPr lang="en-US" sz="1200" dirty="0">
                <a:solidFill>
                  <a:srgbClr val="24261F"/>
                </a:solidFill>
                <a:latin typeface="Calibri" pitchFamily="34" charset="0"/>
                <a:ea typeface="Calibri" pitchFamily="34" charset="-122"/>
                <a:cs typeface="Calibri" pitchFamily="34" charset="-120"/>
              </a:rPr>
              <a:t>A soil_types table now holds fertility and water-retention indices as data — so an agronomist can recalibrate them with an UPDATE, not a redeploy. Fifteen soils seeded, Konkan laterite through Vidarbha deep black.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LAND INTELLIGENCE</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The scoring engine: weighted components, not magic numbers</a:t>
            </a:r>
            <a:endParaRPr lang="en-US" sz="3400" dirty="0"/>
          </a:p>
        </p:txBody>
      </p:sp>
      <p:graphicFrame>
        <p:nvGraphicFramePr>
          <p:cNvPr id="4" name="Chart 0" descr=""/>
          <p:cNvGraphicFramePr/>
          <p:nvPr/>
        </p:nvGraphicFramePr>
        <p:xfrm>
          <a:off x="548640" y="1554480"/>
          <a:ext cx="566928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92240" y="1554480"/>
            <a:ext cx="5120640" cy="3017520"/>
          </a:xfrm>
          <a:prstGeom prst="roundRect">
            <a:avLst>
              <a:gd name="adj" fmla="val 2727"/>
            </a:avLst>
          </a:prstGeom>
          <a:solidFill>
            <a:srgbClr val="F7F5EF"/>
          </a:solidFill>
          <a:ln/>
          <a:effectLst>
            <a:outerShdw sx="100000" sy="100000" kx="0" ky="0" algn="bl" rotWithShape="0" blurRad="101600" dist="25400" dir="5400000">
              <a:srgbClr val="000000">
                <a:alpha val="14000"/>
              </a:srgbClr>
            </a:outerShdw>
          </a:effectLst>
        </p:spPr>
      </p:sp>
      <p:sp>
        <p:nvSpPr>
          <p:cNvPr id="6" name="Text 3"/>
          <p:cNvSpPr/>
          <p:nvPr/>
        </p:nvSpPr>
        <p:spPr>
          <a:xfrm>
            <a:off x="6812280" y="1737360"/>
            <a:ext cx="4572000" cy="292608"/>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Weights are asserted to sum to 1.0</a:t>
            </a:r>
            <a:endParaRPr lang="en-US" sz="1400" dirty="0"/>
          </a:p>
        </p:txBody>
      </p:sp>
      <p:sp>
        <p:nvSpPr>
          <p:cNvPr id="7" name="Text 4"/>
          <p:cNvSpPr/>
          <p:nvPr/>
        </p:nvSpPr>
        <p:spPr>
          <a:xfrm>
            <a:off x="6812280" y="2121408"/>
            <a:ext cx="452628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Checked in a static initialiser, so a drifting weight is a startup failure rather than a silently off-scale score</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Monotonic in every input — improving one factor can never lower the score</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Deterministic: identical inputs always give identical output</a:t>
            </a:r>
            <a:endParaRPr lang="en-US" sz="1200" dirty="0"/>
          </a:p>
          <a:p>
            <a:pPr marL="342900" indent="-342900">
              <a:spcAft>
                <a:spcPts val="800"/>
              </a:spcAft>
              <a:buSzPct val="100000"/>
              <a:buChar char="•"/>
            </a:pPr>
            <a:r>
              <a:rPr lang="en-US" sz="1200" dirty="0">
                <a:solidFill>
                  <a:srgbClr val="24261F"/>
                </a:solidFill>
                <a:latin typeface="Calibri" pitchFamily="34" charset="0"/>
                <a:ea typeface="Calibri" pitchFamily="34" charset="-122"/>
                <a:cs typeface="Calibri" pitchFamily="34" charset="-120"/>
              </a:rPr>
              <a:t>Unknown inputs score neutrally for suitability, pessimistically for borewell probability</a:t>
            </a:r>
            <a:endParaRPr lang="en-US" sz="1200" dirty="0"/>
          </a:p>
        </p:txBody>
      </p:sp>
      <p:sp>
        <p:nvSpPr>
          <p:cNvPr id="8" name="Shape 5"/>
          <p:cNvSpPr/>
          <p:nvPr/>
        </p:nvSpPr>
        <p:spPr>
          <a:xfrm>
            <a:off x="548640" y="4773168"/>
            <a:ext cx="11064240" cy="1554480"/>
          </a:xfrm>
          <a:prstGeom prst="roundRect">
            <a:avLst>
              <a:gd name="adj" fmla="val 5294"/>
            </a:avLst>
          </a:prstGeom>
          <a:solidFill>
            <a:srgbClr val="FBEDE7"/>
          </a:solidFill>
          <a:ln/>
          <a:effectLst>
            <a:outerShdw sx="100000" sy="100000" kx="0" ky="0" algn="bl" rotWithShape="0" blurRad="101600" dist="25400" dir="5400000">
              <a:srgbClr val="000000">
                <a:alpha val="14000"/>
              </a:srgbClr>
            </a:outerShdw>
          </a:effectLst>
        </p:spPr>
      </p:sp>
      <p:sp>
        <p:nvSpPr>
          <p:cNvPr id="9" name="Text 6"/>
          <p:cNvSpPr/>
          <p:nvPr/>
        </p:nvSpPr>
        <p:spPr>
          <a:xfrm>
            <a:off x="868680" y="4937760"/>
            <a:ext cx="4572000" cy="274320"/>
          </a:xfrm>
          <a:prstGeom prst="rect">
            <a:avLst/>
          </a:prstGeom>
          <a:noFill/>
          <a:ln/>
        </p:spPr>
        <p:txBody>
          <a:bodyPr wrap="square" lIns="0" tIns="0" rIns="0" bIns="0" rtlCol="0" anchor="ctr"/>
          <a:lstStyle/>
          <a:p>
            <a:pPr indent="0" marL="0">
              <a:buNone/>
            </a:pPr>
            <a:r>
              <a:rPr lang="en-US" sz="1300" b="1" dirty="0">
                <a:solidFill>
                  <a:srgbClr val="C1502E"/>
                </a:solidFill>
                <a:latin typeface="Calibri" pitchFamily="34" charset="0"/>
                <a:ea typeface="Calibri" pitchFamily="34" charset="-122"/>
                <a:cs typeface="Calibri" pitchFamily="34" charset="-120"/>
              </a:rPr>
              <a:t>Why the last point matters</a:t>
            </a:r>
            <a:endParaRPr lang="en-US" sz="1300" dirty="0"/>
          </a:p>
        </p:txBody>
      </p:sp>
      <p:sp>
        <p:nvSpPr>
          <p:cNvPr id="10" name="Text 7"/>
          <p:cNvSpPr/>
          <p:nvPr/>
        </p:nvSpPr>
        <p:spPr>
          <a:xfrm>
            <a:off x="868680" y="5248656"/>
            <a:ext cx="10424160" cy="91440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A neutral suitability score avoids penalising a listing for incomplete data. A pessimistic borewell figure avoids encouraging a farmer to spend real money drilling on the basis of absent evidence. The asymmetry is deliberate: the two numbers carry different consequences when they are wrong.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BOREWELL PROBABILITY</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Fixing a 25-point cliff over ten centimetres</a:t>
            </a:r>
            <a:endParaRPr lang="en-US" sz="3400" dirty="0"/>
          </a:p>
        </p:txBody>
      </p:sp>
      <p:graphicFrame>
        <p:nvGraphicFramePr>
          <p:cNvPr id="4" name="Chart 0" descr=""/>
          <p:cNvGraphicFramePr/>
          <p:nvPr/>
        </p:nvGraphicFramePr>
        <p:xfrm>
          <a:off x="548640" y="1572768"/>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72768"/>
            <a:ext cx="3931920" cy="1691640"/>
          </a:xfrm>
          <a:prstGeom prst="roundRect">
            <a:avLst>
              <a:gd name="adj" fmla="val 4865"/>
            </a:avLst>
          </a:prstGeom>
          <a:solidFill>
            <a:srgbClr val="FBEDE7"/>
          </a:solidFill>
          <a:ln/>
          <a:effectLst>
            <a:outerShdw sx="100000" sy="100000" kx="0" ky="0" algn="bl" rotWithShape="0" blurRad="101600" dist="25400" dir="5400000">
              <a:srgbClr val="000000">
                <a:alpha val="14000"/>
              </a:srgbClr>
            </a:outerShdw>
          </a:effectLst>
        </p:spPr>
      </p:sp>
      <p:sp>
        <p:nvSpPr>
          <p:cNvPr id="6" name="Text 3"/>
          <p:cNvSpPr/>
          <p:nvPr/>
        </p:nvSpPr>
        <p:spPr>
          <a:xfrm>
            <a:off x="7955280" y="1737360"/>
            <a:ext cx="3383280" cy="274320"/>
          </a:xfrm>
          <a:prstGeom prst="rect">
            <a:avLst/>
          </a:prstGeom>
          <a:noFill/>
          <a:ln/>
        </p:spPr>
        <p:txBody>
          <a:bodyPr wrap="square" lIns="0" tIns="0" rIns="0" bIns="0" rtlCol="0" anchor="ctr"/>
          <a:lstStyle/>
          <a:p>
            <a:pPr indent="0" marL="0">
              <a:buNone/>
            </a:pPr>
            <a:r>
              <a:rPr lang="en-US" sz="1300" b="1" dirty="0">
                <a:solidFill>
                  <a:srgbClr val="C1502E"/>
                </a:solidFill>
                <a:latin typeface="Calibri" pitchFamily="34" charset="0"/>
                <a:ea typeface="Calibri" pitchFamily="34" charset="-122"/>
                <a:cs typeface="Calibri" pitchFamily="34" charset="-120"/>
              </a:rPr>
              <a:t>The old bug</a:t>
            </a:r>
            <a:endParaRPr lang="en-US" sz="1300" dirty="0"/>
          </a:p>
        </p:txBody>
      </p:sp>
      <p:sp>
        <p:nvSpPr>
          <p:cNvPr id="7" name="Text 4"/>
          <p:cNvSpPr/>
          <p:nvPr/>
        </p:nvSpPr>
        <p:spPr>
          <a:xfrm>
            <a:off x="7955280" y="2048256"/>
            <a:ext cx="3383280" cy="109728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At 49.9 m the model returned 90%. At 50.0 m it returned 65%. Two neighbouring plots could differ by 25 percentage points over ten centimetres of depth.</a:t>
            </a:r>
            <a:endParaRPr lang="en-US" sz="1200" dirty="0"/>
          </a:p>
        </p:txBody>
      </p:sp>
      <p:sp>
        <p:nvSpPr>
          <p:cNvPr id="8" name="Shape 5"/>
          <p:cNvSpPr/>
          <p:nvPr/>
        </p:nvSpPr>
        <p:spPr>
          <a:xfrm>
            <a:off x="7680960" y="3447288"/>
            <a:ext cx="3931920" cy="1691640"/>
          </a:xfrm>
          <a:prstGeom prst="roundRect">
            <a:avLst>
              <a:gd name="adj" fmla="val 4865"/>
            </a:avLst>
          </a:prstGeom>
          <a:solidFill>
            <a:srgbClr val="E8F0DA"/>
          </a:solidFill>
          <a:ln/>
          <a:effectLst>
            <a:outerShdw sx="100000" sy="100000" kx="0" ky="0" algn="bl" rotWithShape="0" blurRad="101600" dist="25400" dir="5400000">
              <a:srgbClr val="000000">
                <a:alpha val="14000"/>
              </a:srgbClr>
            </a:outerShdw>
          </a:effectLst>
        </p:spPr>
      </p:sp>
      <p:sp>
        <p:nvSpPr>
          <p:cNvPr id="9" name="Text 6"/>
          <p:cNvSpPr/>
          <p:nvPr/>
        </p:nvSpPr>
        <p:spPr>
          <a:xfrm>
            <a:off x="7955280" y="3611880"/>
            <a:ext cx="3383280" cy="274320"/>
          </a:xfrm>
          <a:prstGeom prst="rect">
            <a:avLst/>
          </a:prstGeom>
          <a:noFill/>
          <a:ln/>
        </p:spPr>
        <p:txBody>
          <a:bodyPr wrap="square" lIns="0" tIns="0" rIns="0" bIns="0" rtlCol="0" anchor="ctr"/>
          <a:lstStyle/>
          <a:p>
            <a:pPr indent="0" marL="0">
              <a:buNone/>
            </a:pPr>
            <a:r>
              <a:rPr lang="en-US" sz="1300" b="1" dirty="0">
                <a:solidFill>
                  <a:srgbClr val="1F4A2C"/>
                </a:solidFill>
                <a:latin typeface="Calibri" pitchFamily="34" charset="0"/>
                <a:ea typeface="Calibri" pitchFamily="34" charset="-122"/>
                <a:cs typeface="Calibri" pitchFamily="34" charset="-120"/>
              </a:rPr>
              <a:t>Bounded by design</a:t>
            </a:r>
            <a:endParaRPr lang="en-US" sz="1300" dirty="0"/>
          </a:p>
        </p:txBody>
      </p:sp>
      <p:sp>
        <p:nvSpPr>
          <p:cNvPr id="10" name="Text 7"/>
          <p:cNvSpPr/>
          <p:nvPr/>
        </p:nvSpPr>
        <p:spPr>
          <a:xfrm>
            <a:off x="7955280" y="3922776"/>
            <a:ext cx="3383280" cy="109728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Never reaches 100% — no heuristic can promise water to someone about to pay for drilling. Never reaches 0% — deep drilling occasionally succeeds.</a:t>
            </a:r>
            <a:endParaRPr lang="en-US" sz="1200" dirty="0"/>
          </a:p>
        </p:txBody>
      </p:sp>
      <p:sp>
        <p:nvSpPr>
          <p:cNvPr id="11" name="Shape 8"/>
          <p:cNvSpPr/>
          <p:nvPr/>
        </p:nvSpPr>
        <p:spPr>
          <a:xfrm>
            <a:off x="548640" y="5349240"/>
            <a:ext cx="11064240" cy="1005840"/>
          </a:xfrm>
          <a:prstGeom prst="roundRect">
            <a:avLst>
              <a:gd name="adj" fmla="val 8182"/>
            </a:avLst>
          </a:prstGeom>
          <a:solidFill>
            <a:srgbClr val="F7F5EF"/>
          </a:solidFill>
          <a:ln/>
          <a:effectLst>
            <a:outerShdw sx="100000" sy="100000" kx="0" ky="0" algn="bl" rotWithShape="0" blurRad="101600" dist="25400" dir="5400000">
              <a:srgbClr val="000000">
                <a:alpha val="14000"/>
              </a:srgbClr>
            </a:outerShdw>
          </a:effectLst>
        </p:spPr>
      </p:sp>
      <p:sp>
        <p:nvSpPr>
          <p:cNvPr id="12" name="Text 9"/>
          <p:cNvSpPr/>
          <p:nvPr/>
        </p:nvSpPr>
        <p:spPr>
          <a:xfrm>
            <a:off x="868680" y="5486400"/>
            <a:ext cx="10424160" cy="777240"/>
          </a:xfrm>
          <a:prstGeom prst="rect">
            <a:avLst/>
          </a:prstGeom>
          <a:noFill/>
          <a:ln/>
        </p:spPr>
        <p:txBody>
          <a:bodyPr wrap="square" lIns="0" tIns="0" rIns="0" bIns="0" rtlCol="0" anchor="ctr"/>
          <a:lstStyle/>
          <a:p>
            <a:pPr indent="0" marL="0">
              <a:buNone/>
            </a:pPr>
            <a:r>
              <a:rPr lang="en-US" sz="1200" b="1" dirty="0">
                <a:solidFill>
                  <a:srgbClr val="C1502E"/>
                </a:solidFill>
                <a:latin typeface="Calibri" pitchFamily="34" charset="0"/>
                <a:ea typeface="Calibri" pitchFamily="34" charset="-122"/>
                <a:cs typeface="Calibri" pitchFamily="34" charset="-120"/>
              </a:rPr>
              <a:t>Model status, stated plainly:  </a:t>
            </a:r>
            <a:pPr indent="0" marL="0">
              <a:buNone/>
            </a:pPr>
            <a:r>
              <a:rPr lang="en-US" sz="1200" dirty="0">
                <a:solidFill>
                  <a:srgbClr val="24261F"/>
                </a:solidFill>
                <a:latin typeface="Calibri" pitchFamily="34" charset="0"/>
                <a:ea typeface="Calibri" pitchFamily="34" charset="-122"/>
                <a:cs typeface="Calibri" pitchFamily="34" charset="-120"/>
              </a:rPr>
              <a:t>these are informed heuristics, not a model fitted to observed drilling outcomes. They rank parcels sensibly against each other, which is what the feature needs. Real calibration would require historical drilling records joined to geology — data the platform does not yet collect. The API documents the output as decision support, never as a prediction.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RABBITMQ</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The event that earns the message bus</a:t>
            </a:r>
            <a:endParaRPr lang="en-US" sz="3400" dirty="0"/>
          </a:p>
        </p:txBody>
      </p:sp>
      <p:sp>
        <p:nvSpPr>
          <p:cNvPr id="4" name="Text 2"/>
          <p:cNvSpPr/>
          <p:nvPr/>
        </p:nvSpPr>
        <p:spPr>
          <a:xfrm>
            <a:off x="548640" y="1508760"/>
            <a:ext cx="4572000" cy="329184"/>
          </a:xfrm>
          <a:prstGeom prst="rect">
            <a:avLst/>
          </a:prstGeom>
          <a:noFill/>
          <a:ln/>
        </p:spPr>
        <p:txBody>
          <a:bodyPr wrap="square" lIns="0" tIns="0" rIns="0" bIns="0" rtlCol="0" anchor="ctr"/>
          <a:lstStyle/>
          <a:p>
            <a:pPr indent="0" marL="0">
              <a:buNone/>
            </a:pPr>
            <a:r>
              <a:rPr lang="en-US" sz="1400" b="1" dirty="0">
                <a:solidFill>
                  <a:srgbClr val="1F4A2C"/>
                </a:solidFill>
                <a:latin typeface="Courier New" pitchFamily="34" charset="0"/>
                <a:ea typeface="Courier New" pitchFamily="34" charset="-122"/>
                <a:cs typeface="Courier New" pitchFamily="34" charset="-120"/>
              </a:rPr>
              <a:t>DELETE /api/admin/users/42</a:t>
            </a:r>
            <a:endParaRPr lang="en-US" sz="1400" dirty="0"/>
          </a:p>
        </p:txBody>
      </p:sp>
      <p:sp>
        <p:nvSpPr>
          <p:cNvPr id="5" name="Shape 3"/>
          <p:cNvSpPr/>
          <p:nvPr/>
        </p:nvSpPr>
        <p:spPr>
          <a:xfrm>
            <a:off x="548640" y="1920240"/>
            <a:ext cx="3200400" cy="822960"/>
          </a:xfrm>
          <a:prstGeom prst="roundRect">
            <a:avLst>
              <a:gd name="adj" fmla="val 10000"/>
            </a:avLst>
          </a:prstGeom>
          <a:solidFill>
            <a:srgbClr val="F7F5EF"/>
          </a:solidFill>
          <a:ln/>
          <a:effectLst>
            <a:outerShdw sx="100000" sy="100000" kx="0" ky="0" algn="bl" rotWithShape="0" blurRad="101600" dist="25400" dir="5400000">
              <a:srgbClr val="000000">
                <a:alpha val="14000"/>
              </a:srgbClr>
            </a:outerShdw>
          </a:effectLst>
        </p:spPr>
      </p:sp>
      <p:sp>
        <p:nvSpPr>
          <p:cNvPr id="6" name="Text 4"/>
          <p:cNvSpPr/>
          <p:nvPr/>
        </p:nvSpPr>
        <p:spPr>
          <a:xfrm>
            <a:off x="548640" y="2048256"/>
            <a:ext cx="3200400" cy="274320"/>
          </a:xfrm>
          <a:prstGeom prst="rect">
            <a:avLst/>
          </a:prstGeom>
          <a:noFill/>
          <a:ln/>
        </p:spPr>
        <p:txBody>
          <a:bodyPr wrap="square" lIns="0" tIns="0" rIns="0" bIns="0" rtlCol="0" anchor="ctr"/>
          <a:lstStyle/>
          <a:p>
            <a:pPr algn="ctr" indent="0" marL="0">
              <a:buNone/>
            </a:pPr>
            <a:r>
              <a:rPr lang="en-US" sz="1300" b="1" dirty="0">
                <a:solidFill>
                  <a:srgbClr val="1F4A2C"/>
                </a:solidFill>
                <a:latin typeface="Calibri" pitchFamily="34" charset="0"/>
                <a:ea typeface="Calibri" pitchFamily="34" charset="-122"/>
                <a:cs typeface="Calibri" pitchFamily="34" charset="-120"/>
              </a:rPr>
              <a:t>auth-service</a:t>
            </a:r>
            <a:endParaRPr lang="en-US" sz="1300" dirty="0"/>
          </a:p>
        </p:txBody>
      </p:sp>
      <p:sp>
        <p:nvSpPr>
          <p:cNvPr id="7" name="Text 5"/>
          <p:cNvSpPr/>
          <p:nvPr/>
        </p:nvSpPr>
        <p:spPr>
          <a:xfrm>
            <a:off x="548640" y="2304288"/>
            <a:ext cx="3200400" cy="384048"/>
          </a:xfrm>
          <a:prstGeom prst="rect">
            <a:avLst/>
          </a:prstGeom>
          <a:noFill/>
          <a:ln/>
        </p:spPr>
        <p:txBody>
          <a:bodyPr wrap="square" lIns="0" tIns="0" rIns="0" bIns="0" rtlCol="0" anchor="ctr"/>
          <a:lstStyle/>
          <a:p>
            <a:pPr algn="ctr" indent="0" marL="0">
              <a:buNone/>
            </a:pPr>
            <a:r>
              <a:rPr lang="en-US" sz="1050" dirty="0">
                <a:solidFill>
                  <a:srgbClr val="5C6154"/>
                </a:solidFill>
                <a:latin typeface="Calibri" pitchFamily="34" charset="0"/>
                <a:ea typeface="Calibri" pitchFamily="34" charset="-122"/>
                <a:cs typeface="Calibri" pitchFamily="34" charset="-120"/>
              </a:rPr>
              <a:t>deletes the row, commits,</a:t>
            </a:r>
            <a:endParaRPr lang="en-US" sz="1050" dirty="0"/>
          </a:p>
          <a:p>
            <a:pPr algn="ctr" indent="0" marL="0">
              <a:buNone/>
            </a:pPr>
            <a:r>
              <a:rPr lang="en-US" sz="1050" dirty="0">
                <a:solidFill>
                  <a:srgbClr val="5C6154"/>
                </a:solidFill>
                <a:latin typeface="Calibri" pitchFamily="34" charset="0"/>
                <a:ea typeface="Calibri" pitchFamily="34" charset="-122"/>
                <a:cs typeface="Calibri" pitchFamily="34" charset="-120"/>
              </a:rPr>
              <a:t>responds 200 immediately</a:t>
            </a:r>
            <a:endParaRPr lang="en-US" sz="1050" dirty="0"/>
          </a:p>
        </p:txBody>
      </p:sp>
      <p:sp>
        <p:nvSpPr>
          <p:cNvPr id="8" name="Shape 6"/>
          <p:cNvSpPr/>
          <p:nvPr/>
        </p:nvSpPr>
        <p:spPr>
          <a:xfrm>
            <a:off x="4206240" y="1920240"/>
            <a:ext cx="2743200" cy="822960"/>
          </a:xfrm>
          <a:prstGeom prst="roundRect">
            <a:avLst>
              <a:gd name="adj" fmla="val 11111"/>
            </a:avLst>
          </a:prstGeom>
          <a:solidFill>
            <a:srgbClr val="C1502E"/>
          </a:solidFill>
          <a:ln/>
          <a:effectLst>
            <a:outerShdw sx="100000" sy="100000" kx="0" ky="0" algn="bl" rotWithShape="0" blurRad="101600" dist="25400" dir="5400000">
              <a:srgbClr val="000000">
                <a:alpha val="14000"/>
              </a:srgbClr>
            </a:outerShdw>
          </a:effectLst>
        </p:spPr>
      </p:sp>
      <p:sp>
        <p:nvSpPr>
          <p:cNvPr id="9" name="Text 7"/>
          <p:cNvSpPr/>
          <p:nvPr/>
        </p:nvSpPr>
        <p:spPr>
          <a:xfrm>
            <a:off x="4206240" y="2121408"/>
            <a:ext cx="274320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publish user.deleted</a:t>
            </a:r>
            <a:endParaRPr lang="en-US" sz="1250" dirty="0"/>
          </a:p>
        </p:txBody>
      </p:sp>
      <p:sp>
        <p:nvSpPr>
          <p:cNvPr id="10" name="Text 8"/>
          <p:cNvSpPr/>
          <p:nvPr/>
        </p:nvSpPr>
        <p:spPr>
          <a:xfrm>
            <a:off x="4206240" y="2377440"/>
            <a:ext cx="2743200" cy="256032"/>
          </a:xfrm>
          <a:prstGeom prst="rect">
            <a:avLst/>
          </a:prstGeom>
          <a:noFill/>
          <a:ln/>
        </p:spPr>
        <p:txBody>
          <a:bodyPr wrap="square" lIns="0" tIns="0" rIns="0" bIns="0" rtlCol="0" anchor="ctr"/>
          <a:lstStyle/>
          <a:p>
            <a:pPr algn="ctr" indent="0" marL="0">
              <a:buNone/>
            </a:pPr>
            <a:r>
              <a:rPr lang="en-US" sz="1000" dirty="0">
                <a:solidFill>
                  <a:srgbClr val="F6DCD2"/>
                </a:solidFill>
                <a:latin typeface="Calibri" pitchFamily="34" charset="0"/>
                <a:ea typeface="Calibri" pitchFamily="34" charset="-122"/>
                <a:cs typeface="Calibri" pitchFamily="34" charset="-120"/>
              </a:rPr>
              <a:t>earthscan.events</a:t>
            </a:r>
            <a:endParaRPr lang="en-US" sz="1000" dirty="0"/>
          </a:p>
        </p:txBody>
      </p:sp>
      <p:sp>
        <p:nvSpPr>
          <p:cNvPr id="11" name="Shape 9"/>
          <p:cNvSpPr/>
          <p:nvPr/>
        </p:nvSpPr>
        <p:spPr>
          <a:xfrm>
            <a:off x="3749040" y="2331720"/>
            <a:ext cx="457200" cy="0"/>
          </a:xfrm>
          <a:prstGeom prst="line">
            <a:avLst/>
          </a:prstGeom>
          <a:noFill/>
          <a:ln w="19050">
            <a:solidFill>
              <a:srgbClr val="5C6154"/>
            </a:solidFill>
            <a:prstDash val="solid"/>
            <a:tailEnd type="triangle"/>
          </a:ln>
        </p:spPr>
      </p:sp>
      <p:sp>
        <p:nvSpPr>
          <p:cNvPr id="12" name="Shape 10"/>
          <p:cNvSpPr/>
          <p:nvPr/>
        </p:nvSpPr>
        <p:spPr>
          <a:xfrm>
            <a:off x="548640" y="3200400"/>
            <a:ext cx="3520440" cy="2011680"/>
          </a:xfrm>
          <a:prstGeom prst="roundRect">
            <a:avLst>
              <a:gd name="adj" fmla="val 4091"/>
            </a:avLst>
          </a:prstGeom>
          <a:solidFill>
            <a:srgbClr val="F7F5EF"/>
          </a:solidFill>
          <a:ln/>
          <a:effectLst>
            <a:outerShdw sx="100000" sy="100000" kx="0" ky="0" algn="bl" rotWithShape="0" blurRad="101600" dist="25400" dir="5400000">
              <a:srgbClr val="000000">
                <a:alpha val="14000"/>
              </a:srgbClr>
            </a:outerShdw>
          </a:effectLst>
        </p:spPr>
      </p:sp>
      <p:sp>
        <p:nvSpPr>
          <p:cNvPr id="13" name="Shape 11"/>
          <p:cNvSpPr/>
          <p:nvPr/>
        </p:nvSpPr>
        <p:spPr>
          <a:xfrm>
            <a:off x="777240" y="3401568"/>
            <a:ext cx="365760" cy="365760"/>
          </a:xfrm>
          <a:prstGeom prst="ellipse">
            <a:avLst/>
          </a:prstGeom>
          <a:solidFill>
            <a:srgbClr val="97BC62"/>
          </a:solidFill>
          <a:ln/>
        </p:spPr>
      </p:sp>
      <p:sp>
        <p:nvSpPr>
          <p:cNvPr id="14" name="Text 12"/>
          <p:cNvSpPr/>
          <p:nvPr/>
        </p:nvSpPr>
        <p:spPr>
          <a:xfrm>
            <a:off x="1261872" y="3429000"/>
            <a:ext cx="2651760" cy="292608"/>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land-service</a:t>
            </a:r>
            <a:endParaRPr lang="en-US" sz="1250" dirty="0"/>
          </a:p>
        </p:txBody>
      </p:sp>
      <p:sp>
        <p:nvSpPr>
          <p:cNvPr id="15" name="Text 13"/>
          <p:cNvSpPr/>
          <p:nvPr/>
        </p:nvSpPr>
        <p:spPr>
          <a:xfrm>
            <a:off x="777240" y="3877056"/>
            <a:ext cx="3063240" cy="54864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Deletes their listings</a:t>
            </a:r>
            <a:endParaRPr lang="en-US" sz="1200" dirty="0"/>
          </a:p>
          <a:p>
            <a:pPr indent="0" marL="0">
              <a:buNone/>
            </a:pPr>
            <a:r>
              <a:rPr lang="en-US" sz="1200" dirty="0">
                <a:solidFill>
                  <a:srgbClr val="24261F"/>
                </a:solidFill>
                <a:latin typeface="Calibri" pitchFamily="34" charset="0"/>
                <a:ea typeface="Calibri" pitchFamily="34" charset="-122"/>
                <a:cs typeface="Calibri" pitchFamily="34" charset="-120"/>
              </a:rPr>
              <a:t>and saved searches</a:t>
            </a:r>
            <a:endParaRPr lang="en-US" sz="1200" dirty="0"/>
          </a:p>
        </p:txBody>
      </p:sp>
      <p:sp>
        <p:nvSpPr>
          <p:cNvPr id="16" name="Text 14"/>
          <p:cNvSpPr/>
          <p:nvPr/>
        </p:nvSpPr>
        <p:spPr>
          <a:xfrm>
            <a:off x="777240" y="4498848"/>
            <a:ext cx="3063240" cy="603504"/>
          </a:xfrm>
          <a:prstGeom prst="rect">
            <a:avLst/>
          </a:prstGeom>
          <a:noFill/>
          <a:ln/>
        </p:spPr>
        <p:txBody>
          <a:bodyPr wrap="square" lIns="0" tIns="0" rIns="0" bIns="0" rtlCol="0" anchor="ctr"/>
          <a:lstStyle/>
          <a:p>
            <a:pPr indent="0" marL="0">
              <a:buNone/>
            </a:pPr>
            <a:r>
              <a:rPr lang="en-US" sz="1050" i="1" dirty="0">
                <a:solidFill>
                  <a:srgbClr val="5C6154"/>
                </a:solidFill>
                <a:latin typeface="Calibri" pitchFamily="34" charset="0"/>
                <a:ea typeface="Calibri" pitchFamily="34" charset="-122"/>
                <a:cs typeface="Calibri" pitchFamily="34" charset="-120"/>
              </a:rPr>
              <a:t>the listing belongs solely to its owner</a:t>
            </a:r>
            <a:endParaRPr lang="en-US" sz="1050" dirty="0"/>
          </a:p>
        </p:txBody>
      </p:sp>
      <p:sp>
        <p:nvSpPr>
          <p:cNvPr id="17" name="Shape 15"/>
          <p:cNvSpPr/>
          <p:nvPr/>
        </p:nvSpPr>
        <p:spPr>
          <a:xfrm>
            <a:off x="5577840" y="2743200"/>
            <a:ext cx="-3273552" cy="457200"/>
          </a:xfrm>
          <a:prstGeom prst="line">
            <a:avLst/>
          </a:prstGeom>
          <a:noFill/>
          <a:ln w="17780">
            <a:solidFill>
              <a:srgbClr val="97BC62"/>
            </a:solidFill>
            <a:prstDash val="solid"/>
          </a:ln>
        </p:spPr>
      </p:sp>
      <p:sp>
        <p:nvSpPr>
          <p:cNvPr id="18" name="Shape 16"/>
          <p:cNvSpPr/>
          <p:nvPr/>
        </p:nvSpPr>
        <p:spPr>
          <a:xfrm>
            <a:off x="4279392" y="3200400"/>
            <a:ext cx="3520440" cy="2011680"/>
          </a:xfrm>
          <a:prstGeom prst="roundRect">
            <a:avLst>
              <a:gd name="adj" fmla="val 4091"/>
            </a:avLst>
          </a:prstGeom>
          <a:solidFill>
            <a:srgbClr val="F7F5EF"/>
          </a:solidFill>
          <a:ln/>
          <a:effectLst>
            <a:outerShdw sx="100000" sy="100000" kx="0" ky="0" algn="bl" rotWithShape="0" blurRad="101600" dist="25400" dir="5400000">
              <a:srgbClr val="000000">
                <a:alpha val="14000"/>
              </a:srgbClr>
            </a:outerShdw>
          </a:effectLst>
        </p:spPr>
      </p:sp>
      <p:sp>
        <p:nvSpPr>
          <p:cNvPr id="19" name="Shape 17"/>
          <p:cNvSpPr/>
          <p:nvPr/>
        </p:nvSpPr>
        <p:spPr>
          <a:xfrm>
            <a:off x="4507992" y="3401568"/>
            <a:ext cx="365760" cy="365760"/>
          </a:xfrm>
          <a:prstGeom prst="ellipse">
            <a:avLst/>
          </a:prstGeom>
          <a:solidFill>
            <a:srgbClr val="97BC62"/>
          </a:solidFill>
          <a:ln/>
        </p:spPr>
      </p:sp>
      <p:sp>
        <p:nvSpPr>
          <p:cNvPr id="20" name="Text 18"/>
          <p:cNvSpPr/>
          <p:nvPr/>
        </p:nvSpPr>
        <p:spPr>
          <a:xfrm>
            <a:off x="4992624" y="3429000"/>
            <a:ext cx="2651760" cy="292608"/>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forum-service</a:t>
            </a:r>
            <a:endParaRPr lang="en-US" sz="1250" dirty="0"/>
          </a:p>
        </p:txBody>
      </p:sp>
      <p:sp>
        <p:nvSpPr>
          <p:cNvPr id="21" name="Text 19"/>
          <p:cNvSpPr/>
          <p:nvPr/>
        </p:nvSpPr>
        <p:spPr>
          <a:xfrm>
            <a:off x="4507992" y="3877056"/>
            <a:ext cx="3063240" cy="54864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Anonymises posts,</a:t>
            </a:r>
            <a:endParaRPr lang="en-US" sz="1200" dirty="0"/>
          </a:p>
          <a:p>
            <a:pPr indent="0" marL="0">
              <a:buNone/>
            </a:pPr>
            <a:r>
              <a:rPr lang="en-US" sz="1200" dirty="0">
                <a:solidFill>
                  <a:srgbClr val="24261F"/>
                </a:solidFill>
                <a:latin typeface="Calibri" pitchFamily="34" charset="0"/>
                <a:ea typeface="Calibri" pitchFamily="34" charset="-122"/>
                <a:cs typeface="Calibri" pitchFamily="34" charset="-120"/>
              </a:rPr>
              <a:t>keeps the text</a:t>
            </a:r>
            <a:endParaRPr lang="en-US" sz="1200" dirty="0"/>
          </a:p>
        </p:txBody>
      </p:sp>
      <p:sp>
        <p:nvSpPr>
          <p:cNvPr id="22" name="Text 20"/>
          <p:cNvSpPr/>
          <p:nvPr/>
        </p:nvSpPr>
        <p:spPr>
          <a:xfrm>
            <a:off x="4507992" y="4498848"/>
            <a:ext cx="3063240" cy="603504"/>
          </a:xfrm>
          <a:prstGeom prst="rect">
            <a:avLst/>
          </a:prstGeom>
          <a:noFill/>
          <a:ln/>
        </p:spPr>
        <p:txBody>
          <a:bodyPr wrap="square" lIns="0" tIns="0" rIns="0" bIns="0" rtlCol="0" anchor="ctr"/>
          <a:lstStyle/>
          <a:p>
            <a:pPr indent="0" marL="0">
              <a:buNone/>
            </a:pPr>
            <a:r>
              <a:rPr lang="en-US" sz="1050" i="1" dirty="0">
                <a:solidFill>
                  <a:srgbClr val="5C6154"/>
                </a:solidFill>
                <a:latin typeface="Calibri" pitchFamily="34" charset="0"/>
                <a:ea typeface="Calibri" pitchFamily="34" charset="-122"/>
                <a:cs typeface="Calibri" pitchFamily="34" charset="-120"/>
              </a:rPr>
              <a:t>deleting it would orphan the expert answers below</a:t>
            </a:r>
            <a:endParaRPr lang="en-US" sz="1050" dirty="0"/>
          </a:p>
        </p:txBody>
      </p:sp>
      <p:sp>
        <p:nvSpPr>
          <p:cNvPr id="23" name="Shape 21"/>
          <p:cNvSpPr/>
          <p:nvPr/>
        </p:nvSpPr>
        <p:spPr>
          <a:xfrm>
            <a:off x="5577840" y="2743200"/>
            <a:ext cx="457200" cy="457200"/>
          </a:xfrm>
          <a:prstGeom prst="line">
            <a:avLst/>
          </a:prstGeom>
          <a:noFill/>
          <a:ln w="17780">
            <a:solidFill>
              <a:srgbClr val="97BC62"/>
            </a:solidFill>
            <a:prstDash val="solid"/>
          </a:ln>
        </p:spPr>
      </p:sp>
      <p:sp>
        <p:nvSpPr>
          <p:cNvPr id="24" name="Shape 22"/>
          <p:cNvSpPr/>
          <p:nvPr/>
        </p:nvSpPr>
        <p:spPr>
          <a:xfrm>
            <a:off x="8010144" y="3200400"/>
            <a:ext cx="3520440" cy="2011680"/>
          </a:xfrm>
          <a:prstGeom prst="roundRect">
            <a:avLst>
              <a:gd name="adj" fmla="val 4091"/>
            </a:avLst>
          </a:prstGeom>
          <a:solidFill>
            <a:srgbClr val="F7F5EF"/>
          </a:solidFill>
          <a:ln/>
          <a:effectLst>
            <a:outerShdw sx="100000" sy="100000" kx="0" ky="0" algn="bl" rotWithShape="0" blurRad="101600" dist="25400" dir="5400000">
              <a:srgbClr val="000000">
                <a:alpha val="14000"/>
              </a:srgbClr>
            </a:outerShdw>
          </a:effectLst>
        </p:spPr>
      </p:sp>
      <p:sp>
        <p:nvSpPr>
          <p:cNvPr id="25" name="Shape 23"/>
          <p:cNvSpPr/>
          <p:nvPr/>
        </p:nvSpPr>
        <p:spPr>
          <a:xfrm>
            <a:off x="8238744" y="3401568"/>
            <a:ext cx="365760" cy="365760"/>
          </a:xfrm>
          <a:prstGeom prst="ellipse">
            <a:avLst/>
          </a:prstGeom>
          <a:solidFill>
            <a:srgbClr val="97BC62"/>
          </a:solidFill>
          <a:ln/>
        </p:spPr>
      </p:sp>
      <p:sp>
        <p:nvSpPr>
          <p:cNvPr id="26" name="Text 24"/>
          <p:cNvSpPr/>
          <p:nvPr/>
        </p:nvSpPr>
        <p:spPr>
          <a:xfrm>
            <a:off x="8723376" y="3429000"/>
            <a:ext cx="2651760" cy="292608"/>
          </a:xfrm>
          <a:prstGeom prst="rect">
            <a:avLst/>
          </a:prstGeom>
          <a:noFill/>
          <a:ln/>
        </p:spPr>
        <p:txBody>
          <a:bodyPr wrap="square" lIns="0" tIns="0" rIns="0" bIns="0" rtlCol="0" anchor="ctr"/>
          <a:lstStyle/>
          <a:p>
            <a:pPr indent="0" marL="0">
              <a:buNone/>
            </a:pPr>
            <a:r>
              <a:rPr lang="en-US" sz="1250" b="1" dirty="0">
                <a:solidFill>
                  <a:srgbClr val="1F4A2C"/>
                </a:solidFill>
                <a:latin typeface="Calibri" pitchFamily="34" charset="0"/>
                <a:ea typeface="Calibri" pitchFamily="34" charset="-122"/>
                <a:cs typeface="Calibri" pitchFamily="34" charset="-120"/>
              </a:rPr>
              <a:t>notification-service</a:t>
            </a:r>
            <a:endParaRPr lang="en-US" sz="1250" dirty="0"/>
          </a:p>
        </p:txBody>
      </p:sp>
      <p:sp>
        <p:nvSpPr>
          <p:cNvPr id="27" name="Text 25"/>
          <p:cNvSpPr/>
          <p:nvPr/>
        </p:nvSpPr>
        <p:spPr>
          <a:xfrm>
            <a:off x="8238744" y="3877056"/>
            <a:ext cx="3063240" cy="548640"/>
          </a:xfrm>
          <a:prstGeom prst="rect">
            <a:avLst/>
          </a:prstGeom>
          <a:noFill/>
          <a:ln/>
        </p:spPr>
        <p:txBody>
          <a:bodyPr wrap="square" lIns="0" tIns="0" rIns="0" bIns="0" rtlCol="0" anchor="ctr"/>
          <a:lstStyle/>
          <a:p>
            <a:pPr indent="0" marL="0">
              <a:buNone/>
            </a:pPr>
            <a:r>
              <a:rPr lang="en-US" sz="1200" dirty="0">
                <a:solidFill>
                  <a:srgbClr val="24261F"/>
                </a:solidFill>
                <a:latin typeface="Calibri" pitchFamily="34" charset="0"/>
                <a:ea typeface="Calibri" pitchFamily="34" charset="-122"/>
                <a:cs typeface="Calibri" pitchFamily="34" charset="-120"/>
              </a:rPr>
              <a:t>Purges their inbox</a:t>
            </a:r>
            <a:endParaRPr lang="en-US" sz="1200" dirty="0"/>
          </a:p>
        </p:txBody>
      </p:sp>
      <p:sp>
        <p:nvSpPr>
          <p:cNvPr id="28" name="Text 26"/>
          <p:cNvSpPr/>
          <p:nvPr/>
        </p:nvSpPr>
        <p:spPr>
          <a:xfrm>
            <a:off x="8238744" y="4498848"/>
            <a:ext cx="3063240" cy="603504"/>
          </a:xfrm>
          <a:prstGeom prst="rect">
            <a:avLst/>
          </a:prstGeom>
          <a:noFill/>
          <a:ln/>
        </p:spPr>
        <p:txBody>
          <a:bodyPr wrap="square" lIns="0" tIns="0" rIns="0" bIns="0" rtlCol="0" anchor="ctr"/>
          <a:lstStyle/>
          <a:p>
            <a:pPr indent="0" marL="0">
              <a:buNone/>
            </a:pPr>
            <a:r>
              <a:rPr lang="en-US" sz="1050" i="1" dirty="0">
                <a:solidFill>
                  <a:srgbClr val="5C6154"/>
                </a:solidFill>
                <a:latin typeface="Calibri" pitchFamily="34" charset="0"/>
                <a:ea typeface="Calibri" pitchFamily="34" charset="-122"/>
                <a:cs typeface="Calibri" pitchFamily="34" charset="-120"/>
              </a:rPr>
              <a:t>a notification has exactly one recipient</a:t>
            </a:r>
            <a:endParaRPr lang="en-US" sz="1050" dirty="0"/>
          </a:p>
        </p:txBody>
      </p:sp>
      <p:sp>
        <p:nvSpPr>
          <p:cNvPr id="29" name="Shape 27"/>
          <p:cNvSpPr/>
          <p:nvPr/>
        </p:nvSpPr>
        <p:spPr>
          <a:xfrm>
            <a:off x="5577840" y="2743200"/>
            <a:ext cx="4187952" cy="457200"/>
          </a:xfrm>
          <a:prstGeom prst="line">
            <a:avLst/>
          </a:prstGeom>
          <a:noFill/>
          <a:ln w="17780">
            <a:solidFill>
              <a:srgbClr val="97BC62"/>
            </a:solidFill>
            <a:prstDash val="solid"/>
          </a:ln>
        </p:spPr>
      </p:sp>
      <p:sp>
        <p:nvSpPr>
          <p:cNvPr id="30" name="Shape 28"/>
          <p:cNvSpPr/>
          <p:nvPr/>
        </p:nvSpPr>
        <p:spPr>
          <a:xfrm>
            <a:off x="548640" y="5440680"/>
            <a:ext cx="11064240" cy="960120"/>
          </a:xfrm>
          <a:prstGeom prst="roundRect">
            <a:avLst>
              <a:gd name="adj" fmla="val 8571"/>
            </a:avLst>
          </a:prstGeom>
          <a:solidFill>
            <a:srgbClr val="E8F0DA"/>
          </a:solidFill>
          <a:ln/>
          <a:effectLst>
            <a:outerShdw sx="100000" sy="100000" kx="0" ky="0" algn="bl" rotWithShape="0" blurRad="101600" dist="25400" dir="5400000">
              <a:srgbClr val="000000">
                <a:alpha val="14000"/>
              </a:srgbClr>
            </a:outerShdw>
          </a:effectLst>
        </p:spPr>
      </p:sp>
      <p:sp>
        <p:nvSpPr>
          <p:cNvPr id="31" name="Text 29"/>
          <p:cNvSpPr/>
          <p:nvPr/>
        </p:nvSpPr>
        <p:spPr>
          <a:xfrm>
            <a:off x="868680" y="5577840"/>
            <a:ext cx="10424160" cy="73152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Synchronously, this endpoint would need to call three services and handle each one's failure. </a:t>
            </a:r>
            <a:pPr indent="0" marL="0">
              <a:buNone/>
            </a:pPr>
            <a:r>
              <a:rPr lang="en-US" sz="1250" b="1" dirty="0">
                <a:solidFill>
                  <a:srgbClr val="1F4A2C"/>
                </a:solidFill>
                <a:latin typeface="Calibri" pitchFamily="34" charset="0"/>
                <a:ea typeface="Calibri" pitchFamily="34" charset="-122"/>
                <a:cs typeface="Calibri" pitchFamily="34" charset="-120"/>
              </a:rPr>
              <a:t>If forum-service were down, the admin would see an error for a deletion that had already happened — leaving the system in a state the API had just denied.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RELIABILITY</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At-least-once delivery, handled honestly</a:t>
            </a:r>
            <a:endParaRPr lang="en-US" sz="3400" dirty="0"/>
          </a:p>
        </p:txBody>
      </p:sp>
      <p:sp>
        <p:nvSpPr>
          <p:cNvPr id="4" name="Shape 2"/>
          <p:cNvSpPr/>
          <p:nvPr/>
        </p:nvSpPr>
        <p:spPr>
          <a:xfrm>
            <a:off x="548640" y="1600200"/>
            <a:ext cx="5394960" cy="1691640"/>
          </a:xfrm>
          <a:prstGeom prst="roundRect">
            <a:avLst>
              <a:gd name="adj" fmla="val 4865"/>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822960" y="1856232"/>
            <a:ext cx="475488" cy="475488"/>
          </a:xfrm>
          <a:prstGeom prst="ellipse">
            <a:avLst/>
          </a:prstGeom>
          <a:solidFill>
            <a:srgbClr val="1F4A2C"/>
          </a:solidFill>
          <a:ln/>
        </p:spPr>
      </p:sp>
      <p:sp>
        <p:nvSpPr>
          <p:cNvPr id="6" name="Text 4"/>
          <p:cNvSpPr/>
          <p:nvPr/>
        </p:nvSpPr>
        <p:spPr>
          <a:xfrm>
            <a:off x="822960" y="185623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463040" y="1874520"/>
            <a:ext cx="429768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Idempotent consumers</a:t>
            </a:r>
            <a:endParaRPr lang="en-US" sz="1350" dirty="0"/>
          </a:p>
        </p:txBody>
      </p:sp>
      <p:sp>
        <p:nvSpPr>
          <p:cNvPr id="8" name="Text 6"/>
          <p:cNvSpPr/>
          <p:nvPr/>
        </p:nvSpPr>
        <p:spPr>
          <a:xfrm>
            <a:off x="822960" y="2313432"/>
            <a:ext cx="4846320" cy="868680"/>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RabbitMQ redelivers after a consumer crash — that is normal operation, not an edge case. Notifications carry a sourceEventId under a unique index; delete handlers are naturally idempotent.</a:t>
            </a:r>
            <a:endParaRPr lang="en-US" sz="1150" dirty="0"/>
          </a:p>
        </p:txBody>
      </p:sp>
      <p:sp>
        <p:nvSpPr>
          <p:cNvPr id="9" name="Shape 7"/>
          <p:cNvSpPr/>
          <p:nvPr/>
        </p:nvSpPr>
        <p:spPr>
          <a:xfrm>
            <a:off x="6217920" y="1600200"/>
            <a:ext cx="5394960" cy="1691640"/>
          </a:xfrm>
          <a:prstGeom prst="roundRect">
            <a:avLst>
              <a:gd name="adj" fmla="val 4865"/>
            </a:avLst>
          </a:prstGeom>
          <a:solidFill>
            <a:srgbClr val="F7F5EF"/>
          </a:solidFill>
          <a:ln/>
          <a:effectLst>
            <a:outerShdw sx="100000" sy="100000" kx="0" ky="0" algn="bl" rotWithShape="0" blurRad="101600" dist="25400" dir="5400000">
              <a:srgbClr val="000000">
                <a:alpha val="14000"/>
              </a:srgbClr>
            </a:outerShdw>
          </a:effectLst>
        </p:spPr>
      </p:sp>
      <p:sp>
        <p:nvSpPr>
          <p:cNvPr id="10" name="Shape 8"/>
          <p:cNvSpPr/>
          <p:nvPr/>
        </p:nvSpPr>
        <p:spPr>
          <a:xfrm>
            <a:off x="6492240" y="1856232"/>
            <a:ext cx="475488" cy="475488"/>
          </a:xfrm>
          <a:prstGeom prst="ellipse">
            <a:avLst/>
          </a:prstGeom>
          <a:solidFill>
            <a:srgbClr val="1F4A2C"/>
          </a:solidFill>
          <a:ln/>
        </p:spPr>
      </p:sp>
      <p:sp>
        <p:nvSpPr>
          <p:cNvPr id="11" name="Text 9"/>
          <p:cNvSpPr/>
          <p:nvPr/>
        </p:nvSpPr>
        <p:spPr>
          <a:xfrm>
            <a:off x="6492240" y="185623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7132320" y="1874520"/>
            <a:ext cx="429768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Bounded retry, then dead-letter</a:t>
            </a:r>
            <a:endParaRPr lang="en-US" sz="1350" dirty="0"/>
          </a:p>
        </p:txBody>
      </p:sp>
      <p:sp>
        <p:nvSpPr>
          <p:cNvPr id="13" name="Text 11"/>
          <p:cNvSpPr/>
          <p:nvPr/>
        </p:nvSpPr>
        <p:spPr>
          <a:xfrm>
            <a:off x="6492240" y="2313432"/>
            <a:ext cx="4846320" cy="868680"/>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Four attempts with exponential backoff, 2s to 20s. default-requeue-rejected: false, so an exhausted message parks in the DLQ instead of poison-looping.</a:t>
            </a:r>
            <a:endParaRPr lang="en-US" sz="1150" dirty="0"/>
          </a:p>
        </p:txBody>
      </p:sp>
      <p:sp>
        <p:nvSpPr>
          <p:cNvPr id="14" name="Shape 12"/>
          <p:cNvSpPr/>
          <p:nvPr/>
        </p:nvSpPr>
        <p:spPr>
          <a:xfrm>
            <a:off x="548640" y="3520440"/>
            <a:ext cx="5394960" cy="1691640"/>
          </a:xfrm>
          <a:prstGeom prst="roundRect">
            <a:avLst>
              <a:gd name="adj" fmla="val 4865"/>
            </a:avLst>
          </a:prstGeom>
          <a:solidFill>
            <a:srgbClr val="F7F5EF"/>
          </a:solidFill>
          <a:ln/>
          <a:effectLst>
            <a:outerShdw sx="100000" sy="100000" kx="0" ky="0" algn="bl" rotWithShape="0" blurRad="101600" dist="25400" dir="5400000">
              <a:srgbClr val="000000">
                <a:alpha val="14000"/>
              </a:srgbClr>
            </a:outerShdw>
          </a:effectLst>
        </p:spPr>
      </p:sp>
      <p:sp>
        <p:nvSpPr>
          <p:cNvPr id="15" name="Shape 13"/>
          <p:cNvSpPr/>
          <p:nvPr/>
        </p:nvSpPr>
        <p:spPr>
          <a:xfrm>
            <a:off x="822960" y="3776472"/>
            <a:ext cx="475488" cy="475488"/>
          </a:xfrm>
          <a:prstGeom prst="ellipse">
            <a:avLst/>
          </a:prstGeom>
          <a:solidFill>
            <a:srgbClr val="1F4A2C"/>
          </a:solidFill>
          <a:ln/>
        </p:spPr>
      </p:sp>
      <p:sp>
        <p:nvSpPr>
          <p:cNvPr id="16" name="Text 14"/>
          <p:cNvSpPr/>
          <p:nvPr/>
        </p:nvSpPr>
        <p:spPr>
          <a:xfrm>
            <a:off x="822960" y="377647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463040" y="3794760"/>
            <a:ext cx="429768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Narrow bindings</a:t>
            </a:r>
            <a:endParaRPr lang="en-US" sz="1350" dirty="0"/>
          </a:p>
        </p:txBody>
      </p:sp>
      <p:sp>
        <p:nvSpPr>
          <p:cNvPr id="18" name="Text 16"/>
          <p:cNvSpPr/>
          <p:nvPr/>
        </p:nvSpPr>
        <p:spPr>
          <a:xfrm>
            <a:off x="822960" y="4233672"/>
            <a:ext cx="4846320" cy="868680"/>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land-service binds user.deleted specifically, not user.#. A broad binding would deliver events it has no handler for — four failed retries each, delaying everything behind them.</a:t>
            </a:r>
            <a:endParaRPr lang="en-US" sz="1150" dirty="0"/>
          </a:p>
        </p:txBody>
      </p:sp>
      <p:sp>
        <p:nvSpPr>
          <p:cNvPr id="19" name="Shape 17"/>
          <p:cNvSpPr/>
          <p:nvPr/>
        </p:nvSpPr>
        <p:spPr>
          <a:xfrm>
            <a:off x="6217920" y="3520440"/>
            <a:ext cx="5394960" cy="1691640"/>
          </a:xfrm>
          <a:prstGeom prst="roundRect">
            <a:avLst>
              <a:gd name="adj" fmla="val 4865"/>
            </a:avLst>
          </a:prstGeom>
          <a:solidFill>
            <a:srgbClr val="F7F5EF"/>
          </a:solidFill>
          <a:ln/>
          <a:effectLst>
            <a:outerShdw sx="100000" sy="100000" kx="0" ky="0" algn="bl" rotWithShape="0" blurRad="101600" dist="25400" dir="5400000">
              <a:srgbClr val="000000">
                <a:alpha val="14000"/>
              </a:srgbClr>
            </a:outerShdw>
          </a:effectLst>
        </p:spPr>
      </p:sp>
      <p:sp>
        <p:nvSpPr>
          <p:cNvPr id="20" name="Shape 18"/>
          <p:cNvSpPr/>
          <p:nvPr/>
        </p:nvSpPr>
        <p:spPr>
          <a:xfrm>
            <a:off x="6492240" y="3776472"/>
            <a:ext cx="475488" cy="475488"/>
          </a:xfrm>
          <a:prstGeom prst="ellipse">
            <a:avLst/>
          </a:prstGeom>
          <a:solidFill>
            <a:srgbClr val="1F4A2C"/>
          </a:solidFill>
          <a:ln/>
        </p:spPr>
      </p:sp>
      <p:sp>
        <p:nvSpPr>
          <p:cNvPr id="21" name="Text 19"/>
          <p:cNvSpPr/>
          <p:nvPr/>
        </p:nvSpPr>
        <p:spPr>
          <a:xfrm>
            <a:off x="6492240" y="377647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132320" y="3794760"/>
            <a:ext cx="4297680" cy="292608"/>
          </a:xfrm>
          <a:prstGeom prst="rect">
            <a:avLst/>
          </a:prstGeom>
          <a:noFill/>
          <a:ln/>
        </p:spPr>
        <p:txBody>
          <a:bodyPr wrap="square" lIns="0" tIns="0" rIns="0" bIns="0" rtlCol="0" anchor="ctr"/>
          <a:lstStyle/>
          <a:p>
            <a:pPr indent="0" marL="0">
              <a:buNone/>
            </a:pPr>
            <a:r>
              <a:rPr lang="en-US" sz="1350" b="1" dirty="0">
                <a:solidFill>
                  <a:srgbClr val="1F4A2C"/>
                </a:solidFill>
                <a:latin typeface="Calibri" pitchFamily="34" charset="0"/>
                <a:ea typeface="Calibri" pitchFamily="34" charset="-122"/>
                <a:cs typeface="Calibri" pitchFamily="34" charset="-120"/>
              </a:rPr>
              <a:t>Constants, not string literals</a:t>
            </a:r>
            <a:endParaRPr lang="en-US" sz="1350" dirty="0"/>
          </a:p>
        </p:txBody>
      </p:sp>
      <p:sp>
        <p:nvSpPr>
          <p:cNvPr id="23" name="Text 21"/>
          <p:cNvSpPr/>
          <p:nvPr/>
        </p:nvSpPr>
        <p:spPr>
          <a:xfrm>
            <a:off x="6492240" y="4233672"/>
            <a:ext cx="4846320" cy="868680"/>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Publishers and consumers live in different services. Sharing the routing keys in common-lib makes a rename a compile error rather than a silent delivery failure.</a:t>
            </a:r>
            <a:endParaRPr lang="en-US" sz="1150" dirty="0"/>
          </a:p>
        </p:txBody>
      </p:sp>
      <p:sp>
        <p:nvSpPr>
          <p:cNvPr id="24" name="Shape 22"/>
          <p:cNvSpPr/>
          <p:nvPr/>
        </p:nvSpPr>
        <p:spPr>
          <a:xfrm>
            <a:off x="548640" y="5532120"/>
            <a:ext cx="11064240" cy="868680"/>
          </a:xfrm>
          <a:prstGeom prst="roundRect">
            <a:avLst>
              <a:gd name="adj" fmla="val 9474"/>
            </a:avLst>
          </a:prstGeom>
          <a:solidFill>
            <a:srgbClr val="FBEDE7"/>
          </a:solidFill>
          <a:ln/>
          <a:effectLst>
            <a:outerShdw sx="100000" sy="100000" kx="0" ky="0" algn="bl" rotWithShape="0" blurRad="101600" dist="25400" dir="5400000">
              <a:srgbClr val="000000">
                <a:alpha val="14000"/>
              </a:srgbClr>
            </a:outerShdw>
          </a:effectLst>
        </p:spPr>
      </p:sp>
      <p:sp>
        <p:nvSpPr>
          <p:cNvPr id="25" name="Text 23"/>
          <p:cNvSpPr/>
          <p:nvPr/>
        </p:nvSpPr>
        <p:spPr>
          <a:xfrm>
            <a:off x="868680" y="5669280"/>
            <a:ext cx="10424160" cy="640080"/>
          </a:xfrm>
          <a:prstGeom prst="rect">
            <a:avLst/>
          </a:prstGeom>
          <a:noFill/>
          <a:ln/>
        </p:spPr>
        <p:txBody>
          <a:bodyPr wrap="square" lIns="0" tIns="0" rIns="0" bIns="0" rtlCol="0" anchor="ctr"/>
          <a:lstStyle/>
          <a:p>
            <a:pPr indent="0" marL="0">
              <a:buNone/>
            </a:pPr>
            <a:r>
              <a:rPr lang="en-US" sz="1200" b="1" dirty="0">
                <a:solidFill>
                  <a:srgbClr val="C1502E"/>
                </a:solidFill>
                <a:latin typeface="Calibri" pitchFamily="34" charset="0"/>
                <a:ea typeface="Calibri" pitchFamily="34" charset="-122"/>
                <a:cs typeface="Calibri" pitchFamily="34" charset="-120"/>
              </a:rPr>
              <a:t>The remaining gap:  </a:t>
            </a:r>
            <a:pPr indent="0" marL="0">
              <a:buNone/>
            </a:pPr>
            <a:r>
              <a:rPr lang="en-US" sz="1200" dirty="0">
                <a:solidFill>
                  <a:srgbClr val="24261F"/>
                </a:solidFill>
                <a:latin typeface="Calibri" pitchFamily="34" charset="0"/>
                <a:ea typeface="Calibri" pitchFamily="34" charset="-122"/>
                <a:cs typeface="Calibri" pitchFamily="34" charset="-120"/>
              </a:rPr>
              <a:t>events publish after the transaction commits, not through a transactional outbox. A crash in that narrow window loses an event. Accepted because none of these events carry money — the worst case is a missing notification. An outbox would be the right call if they ever did.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ENGINEERING QUALITY</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Cross-cutting concerns, defined once</a:t>
            </a:r>
            <a:endParaRPr lang="en-US" sz="3400" dirty="0"/>
          </a:p>
        </p:txBody>
      </p:sp>
      <p:sp>
        <p:nvSpPr>
          <p:cNvPr id="4" name="Shape 2"/>
          <p:cNvSpPr/>
          <p:nvPr/>
        </p:nvSpPr>
        <p:spPr>
          <a:xfrm>
            <a:off x="548640" y="1600200"/>
            <a:ext cx="11064240" cy="1005840"/>
          </a:xfrm>
          <a:prstGeom prst="roundRect">
            <a:avLst>
              <a:gd name="adj" fmla="val 8182"/>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804672" y="1929384"/>
            <a:ext cx="329184" cy="329184"/>
          </a:xfrm>
          <a:prstGeom prst="ellipse">
            <a:avLst/>
          </a:prstGeom>
          <a:solidFill>
            <a:srgbClr val="1F4A2C"/>
          </a:solidFill>
          <a:ln/>
        </p:spPr>
      </p:sp>
      <p:sp>
        <p:nvSpPr>
          <p:cNvPr id="6" name="Text 4"/>
          <p:cNvSpPr/>
          <p:nvPr/>
        </p:nvSpPr>
        <p:spPr>
          <a:xfrm>
            <a:off x="1298448" y="1764792"/>
            <a:ext cx="274320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Input validation</a:t>
            </a:r>
            <a:endParaRPr lang="en-US" sz="1400" dirty="0"/>
          </a:p>
        </p:txBody>
      </p:sp>
      <p:sp>
        <p:nvSpPr>
          <p:cNvPr id="7" name="Text 5"/>
          <p:cNvSpPr/>
          <p:nvPr/>
        </p:nvSpPr>
        <p:spPr>
          <a:xfrm>
            <a:off x="4114800" y="1746504"/>
            <a:ext cx="7269480" cy="749808"/>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Bean Validation on every DTO — the original had none. Mirrored client-side in one shared module, because client validation gives instant feedback and server validation is the one that cannot be bypassed.</a:t>
            </a:r>
            <a:endParaRPr lang="en-US" sz="1150" dirty="0"/>
          </a:p>
        </p:txBody>
      </p:sp>
      <p:sp>
        <p:nvSpPr>
          <p:cNvPr id="8" name="Shape 6"/>
          <p:cNvSpPr/>
          <p:nvPr/>
        </p:nvSpPr>
        <p:spPr>
          <a:xfrm>
            <a:off x="548640" y="2752344"/>
            <a:ext cx="11064240" cy="1005840"/>
          </a:xfrm>
          <a:prstGeom prst="roundRect">
            <a:avLst>
              <a:gd name="adj" fmla="val 8182"/>
            </a:avLst>
          </a:prstGeom>
          <a:solidFill>
            <a:srgbClr val="F7F5EF"/>
          </a:solidFill>
          <a:ln/>
          <a:effectLst>
            <a:outerShdw sx="100000" sy="100000" kx="0" ky="0" algn="bl" rotWithShape="0" blurRad="101600" dist="25400" dir="5400000">
              <a:srgbClr val="000000">
                <a:alpha val="14000"/>
              </a:srgbClr>
            </a:outerShdw>
          </a:effectLst>
        </p:spPr>
      </p:sp>
      <p:sp>
        <p:nvSpPr>
          <p:cNvPr id="9" name="Shape 7"/>
          <p:cNvSpPr/>
          <p:nvPr/>
        </p:nvSpPr>
        <p:spPr>
          <a:xfrm>
            <a:off x="804672" y="3081528"/>
            <a:ext cx="329184" cy="329184"/>
          </a:xfrm>
          <a:prstGeom prst="ellipse">
            <a:avLst/>
          </a:prstGeom>
          <a:solidFill>
            <a:srgbClr val="1F4A2C"/>
          </a:solidFill>
          <a:ln/>
        </p:spPr>
      </p:sp>
      <p:sp>
        <p:nvSpPr>
          <p:cNvPr id="10" name="Text 8"/>
          <p:cNvSpPr/>
          <p:nvPr/>
        </p:nvSpPr>
        <p:spPr>
          <a:xfrm>
            <a:off x="1298448" y="2916936"/>
            <a:ext cx="274320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Global exception handling</a:t>
            </a:r>
            <a:endParaRPr lang="en-US" sz="1400" dirty="0"/>
          </a:p>
        </p:txBody>
      </p:sp>
      <p:sp>
        <p:nvSpPr>
          <p:cNvPr id="11" name="Text 9"/>
          <p:cNvSpPr/>
          <p:nvPr/>
        </p:nvSpPr>
        <p:spPr>
          <a:xfrm>
            <a:off x="4114800" y="2898648"/>
            <a:ext cx="7269480" cy="749808"/>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One @RestControllerAdvice in common-lib, picked up by every service. Uniform ApiErrorResponse; 4xx logs at WARN without a trace, 5xx at ERROR with one, so alerting keys on ERROR alone.</a:t>
            </a:r>
            <a:endParaRPr lang="en-US" sz="1150" dirty="0"/>
          </a:p>
        </p:txBody>
      </p:sp>
      <p:sp>
        <p:nvSpPr>
          <p:cNvPr id="12" name="Shape 10"/>
          <p:cNvSpPr/>
          <p:nvPr/>
        </p:nvSpPr>
        <p:spPr>
          <a:xfrm>
            <a:off x="548640" y="3904488"/>
            <a:ext cx="11064240" cy="1005840"/>
          </a:xfrm>
          <a:prstGeom prst="roundRect">
            <a:avLst>
              <a:gd name="adj" fmla="val 8182"/>
            </a:avLst>
          </a:prstGeom>
          <a:solidFill>
            <a:srgbClr val="E8F0DA"/>
          </a:solidFill>
          <a:ln/>
          <a:effectLst>
            <a:outerShdw sx="100000" sy="100000" kx="0" ky="0" algn="bl" rotWithShape="0" blurRad="101600" dist="25400" dir="5400000">
              <a:srgbClr val="000000">
                <a:alpha val="14000"/>
              </a:srgbClr>
            </a:outerShdw>
          </a:effectLst>
        </p:spPr>
      </p:sp>
      <p:sp>
        <p:nvSpPr>
          <p:cNvPr id="13" name="Shape 11"/>
          <p:cNvSpPr/>
          <p:nvPr/>
        </p:nvSpPr>
        <p:spPr>
          <a:xfrm>
            <a:off x="804672" y="4233672"/>
            <a:ext cx="329184" cy="329184"/>
          </a:xfrm>
          <a:prstGeom prst="ellipse">
            <a:avLst/>
          </a:prstGeom>
          <a:solidFill>
            <a:srgbClr val="97BC62"/>
          </a:solidFill>
          <a:ln/>
        </p:spPr>
      </p:sp>
      <p:sp>
        <p:nvSpPr>
          <p:cNvPr id="14" name="Text 12"/>
          <p:cNvSpPr/>
          <p:nvPr/>
        </p:nvSpPr>
        <p:spPr>
          <a:xfrm>
            <a:off x="1298448" y="4069080"/>
            <a:ext cx="274320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Logging</a:t>
            </a:r>
            <a:endParaRPr lang="en-US" sz="1400" dirty="0"/>
          </a:p>
        </p:txBody>
      </p:sp>
      <p:sp>
        <p:nvSpPr>
          <p:cNvPr id="15" name="Text 13"/>
          <p:cNvSpPr/>
          <p:nvPr/>
        </p:nvSpPr>
        <p:spPr>
          <a:xfrm>
            <a:off x="4114800" y="4050792"/>
            <a:ext cx="7269480" cy="749808"/>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The gateway mints a correlation id; every service echoes it into the MDC. One grep reconstructs a four-service fan-out in order. Bodies and query strings are never logged — login payloads contain plaintext passwords.</a:t>
            </a:r>
            <a:endParaRPr lang="en-US" sz="1150" dirty="0"/>
          </a:p>
        </p:txBody>
      </p:sp>
      <p:sp>
        <p:nvSpPr>
          <p:cNvPr id="16" name="Shape 14"/>
          <p:cNvSpPr/>
          <p:nvPr/>
        </p:nvSpPr>
        <p:spPr>
          <a:xfrm>
            <a:off x="548640" y="5056632"/>
            <a:ext cx="11064240" cy="1005840"/>
          </a:xfrm>
          <a:prstGeom prst="roundRect">
            <a:avLst>
              <a:gd name="adj" fmla="val 8182"/>
            </a:avLst>
          </a:prstGeom>
          <a:solidFill>
            <a:srgbClr val="E8F0DA"/>
          </a:solidFill>
          <a:ln/>
          <a:effectLst>
            <a:outerShdw sx="100000" sy="100000" kx="0" ky="0" algn="bl" rotWithShape="0" blurRad="101600" dist="25400" dir="5400000">
              <a:srgbClr val="000000">
                <a:alpha val="14000"/>
              </a:srgbClr>
            </a:outerShdw>
          </a:effectLst>
        </p:spPr>
      </p:sp>
      <p:sp>
        <p:nvSpPr>
          <p:cNvPr id="17" name="Shape 15"/>
          <p:cNvSpPr/>
          <p:nvPr/>
        </p:nvSpPr>
        <p:spPr>
          <a:xfrm>
            <a:off x="804672" y="5385816"/>
            <a:ext cx="329184" cy="329184"/>
          </a:xfrm>
          <a:prstGeom prst="ellipse">
            <a:avLst/>
          </a:prstGeom>
          <a:solidFill>
            <a:srgbClr val="97BC62"/>
          </a:solidFill>
          <a:ln/>
        </p:spPr>
      </p:sp>
      <p:sp>
        <p:nvSpPr>
          <p:cNvPr id="18" name="Text 16"/>
          <p:cNvSpPr/>
          <p:nvPr/>
        </p:nvSpPr>
        <p:spPr>
          <a:xfrm>
            <a:off x="1298448" y="5221224"/>
            <a:ext cx="2743200" cy="310896"/>
          </a:xfrm>
          <a:prstGeom prst="rect">
            <a:avLst/>
          </a:prstGeom>
          <a:noFill/>
          <a:ln/>
        </p:spPr>
        <p:txBody>
          <a:bodyPr wrap="square" lIns="0" tIns="0" rIns="0" bIns="0" rtlCol="0" anchor="ctr"/>
          <a:lstStyle/>
          <a:p>
            <a:pPr indent="0" marL="0">
              <a:buNone/>
            </a:pPr>
            <a:r>
              <a:rPr lang="en-US" sz="1400" b="1" dirty="0">
                <a:solidFill>
                  <a:srgbClr val="1F4A2C"/>
                </a:solidFill>
                <a:latin typeface="Calibri" pitchFamily="34" charset="0"/>
                <a:ea typeface="Calibri" pitchFamily="34" charset="-122"/>
                <a:cs typeface="Calibri" pitchFamily="34" charset="-120"/>
              </a:rPr>
              <a:t>Unit testing</a:t>
            </a:r>
            <a:endParaRPr lang="en-US" sz="1400" dirty="0"/>
          </a:p>
        </p:txBody>
      </p:sp>
      <p:sp>
        <p:nvSpPr>
          <p:cNvPr id="19" name="Text 17"/>
          <p:cNvSpPr/>
          <p:nvPr/>
        </p:nvSpPr>
        <p:spPr>
          <a:xfrm>
            <a:off x="4114800" y="5202936"/>
            <a:ext cx="7269480" cy="749808"/>
          </a:xfrm>
          <a:prstGeom prst="rect">
            <a:avLst/>
          </a:prstGeom>
          <a:noFill/>
          <a:ln/>
        </p:spPr>
        <p:txBody>
          <a:bodyPr wrap="square" lIns="0" tIns="0" rIns="0" bIns="0" rtlCol="0" anchor="ctr"/>
          <a:lstStyle/>
          <a:p>
            <a:pPr indent="0" marL="0">
              <a:buNone/>
            </a:pPr>
            <a:r>
              <a:rPr lang="en-US" sz="1150" dirty="0">
                <a:solidFill>
                  <a:srgbClr val="24261F"/>
                </a:solidFill>
                <a:latin typeface="Calibri" pitchFamily="34" charset="0"/>
                <a:ea typeface="Calibri" pitchFamily="34" charset="-122"/>
                <a:cs typeface="Calibri" pitchFamily="34" charset="-120"/>
              </a:rPr>
              <a:t>JUnit 5, Mockito 5 and AssertJ across 8 test classes. Real cryptography in the JWT tests: forged signatures, wrong issuer, wrong audience, expiry and alg:none are all asserted to be rejected.</a:t>
            </a:r>
            <a:endParaRPr lang="en-US" sz="1150" dirty="0"/>
          </a:p>
        </p:txBody>
      </p:sp>
      <p:sp>
        <p:nvSpPr>
          <p:cNvPr id="20" name="Text 18"/>
          <p:cNvSpPr/>
          <p:nvPr/>
        </p:nvSpPr>
        <p:spPr>
          <a:xfrm>
            <a:off x="548640" y="6309360"/>
            <a:ext cx="11064240" cy="365760"/>
          </a:xfrm>
          <a:prstGeom prst="rect">
            <a:avLst/>
          </a:prstGeom>
          <a:noFill/>
          <a:ln/>
        </p:spPr>
        <p:txBody>
          <a:bodyPr wrap="square" lIns="0" tIns="0" rIns="0" bIns="0" rtlCol="0" anchor="ctr"/>
          <a:lstStyle/>
          <a:p>
            <a:pPr indent="0" marL="0">
              <a:buNone/>
            </a:pPr>
            <a:r>
              <a:rPr lang="en-US" sz="1250" i="1" dirty="0">
                <a:solidFill>
                  <a:srgbClr val="1F4A2C"/>
                </a:solidFill>
                <a:latin typeface="Cambria" pitchFamily="34" charset="0"/>
                <a:ea typeface="Cambria" pitchFamily="34" charset="-122"/>
                <a:cs typeface="Cambria" pitchFamily="34" charset="-120"/>
              </a:rPr>
              <a:t>Tests assert properties, not magic values — "wetter land never scores worse" holds for any calibration; "this input yields 73.4" breaks on the next one.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FRONTEND</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React frontend: rewired, not rewritten</a:t>
            </a:r>
            <a:endParaRPr lang="en-US" sz="3400" dirty="0"/>
          </a:p>
        </p:txBody>
      </p:sp>
      <p:sp>
        <p:nvSpPr>
          <p:cNvPr id="4" name="Text 2"/>
          <p:cNvSpPr/>
          <p:nvPr/>
        </p:nvSpPr>
        <p:spPr>
          <a:xfrm>
            <a:off x="658368" y="1572768"/>
            <a:ext cx="2194560" cy="256032"/>
          </a:xfrm>
          <a:prstGeom prst="rect">
            <a:avLst/>
          </a:prstGeom>
          <a:noFill/>
          <a:ln/>
        </p:spPr>
        <p:txBody>
          <a:bodyPr wrap="square" lIns="0" tIns="0" rIns="0" bIns="0" rtlCol="0" anchor="ctr"/>
          <a:lstStyle/>
          <a:p>
            <a:pPr indent="0" marL="0">
              <a:buNone/>
            </a:pPr>
            <a:r>
              <a:rPr lang="en-US" sz="1050" b="1" spc="150" kern="0" dirty="0">
                <a:solidFill>
                  <a:srgbClr val="97BC62"/>
                </a:solidFill>
                <a:latin typeface="Calibri" pitchFamily="34" charset="0"/>
                <a:ea typeface="Calibri" pitchFamily="34" charset="-122"/>
                <a:cs typeface="Calibri" pitchFamily="34" charset="-120"/>
              </a:rPr>
              <a:t>Concern</a:t>
            </a:r>
            <a:endParaRPr lang="en-US" sz="1050" dirty="0"/>
          </a:p>
        </p:txBody>
      </p:sp>
      <p:sp>
        <p:nvSpPr>
          <p:cNvPr id="5" name="Text 3"/>
          <p:cNvSpPr/>
          <p:nvPr/>
        </p:nvSpPr>
        <p:spPr>
          <a:xfrm>
            <a:off x="3017520" y="1572768"/>
            <a:ext cx="4023360" cy="256032"/>
          </a:xfrm>
          <a:prstGeom prst="rect">
            <a:avLst/>
          </a:prstGeom>
          <a:noFill/>
          <a:ln/>
        </p:spPr>
        <p:txBody>
          <a:bodyPr wrap="square" lIns="0" tIns="0" rIns="0" bIns="0" rtlCol="0" anchor="ctr"/>
          <a:lstStyle/>
          <a:p>
            <a:pPr indent="0" marL="0">
              <a:buNone/>
            </a:pPr>
            <a:r>
              <a:rPr lang="en-US" sz="1050" b="1" spc="150" kern="0" dirty="0">
                <a:solidFill>
                  <a:srgbClr val="C1502E"/>
                </a:solidFill>
                <a:latin typeface="Calibri" pitchFamily="34" charset="0"/>
                <a:ea typeface="Calibri" pitchFamily="34" charset="-122"/>
                <a:cs typeface="Calibri" pitchFamily="34" charset="-120"/>
              </a:rPr>
              <a:t>BEFORE</a:t>
            </a:r>
            <a:endParaRPr lang="en-US" sz="1050" dirty="0"/>
          </a:p>
        </p:txBody>
      </p:sp>
      <p:sp>
        <p:nvSpPr>
          <p:cNvPr id="6" name="Text 4"/>
          <p:cNvSpPr/>
          <p:nvPr/>
        </p:nvSpPr>
        <p:spPr>
          <a:xfrm>
            <a:off x="7315200" y="1572768"/>
            <a:ext cx="4297680" cy="256032"/>
          </a:xfrm>
          <a:prstGeom prst="rect">
            <a:avLst/>
          </a:prstGeom>
          <a:noFill/>
          <a:ln/>
        </p:spPr>
        <p:txBody>
          <a:bodyPr wrap="square" lIns="0" tIns="0" rIns="0" bIns="0" rtlCol="0" anchor="ctr"/>
          <a:lstStyle/>
          <a:p>
            <a:pPr indent="0" marL="0">
              <a:buNone/>
            </a:pPr>
            <a:r>
              <a:rPr lang="en-US" sz="1050" b="1" spc="150" kern="0" dirty="0">
                <a:solidFill>
                  <a:srgbClr val="1F4A2C"/>
                </a:solidFill>
                <a:latin typeface="Calibri" pitchFamily="34" charset="0"/>
                <a:ea typeface="Calibri" pitchFamily="34" charset="-122"/>
                <a:cs typeface="Calibri" pitchFamily="34" charset="-120"/>
              </a:rPr>
              <a:t>AFTER</a:t>
            </a:r>
            <a:endParaRPr lang="en-US" sz="1050" dirty="0"/>
          </a:p>
        </p:txBody>
      </p:sp>
      <p:sp>
        <p:nvSpPr>
          <p:cNvPr id="7" name="Shape 5"/>
          <p:cNvSpPr/>
          <p:nvPr/>
        </p:nvSpPr>
        <p:spPr>
          <a:xfrm>
            <a:off x="548640" y="1883664"/>
            <a:ext cx="11064240" cy="786384"/>
          </a:xfrm>
          <a:prstGeom prst="roundRect">
            <a:avLst>
              <a:gd name="adj" fmla="val 10465"/>
            </a:avLst>
          </a:prstGeom>
          <a:solidFill>
            <a:srgbClr val="F7F5EF"/>
          </a:solidFill>
          <a:ln/>
          <a:effectLst>
            <a:outerShdw sx="100000" sy="100000" kx="0" ky="0" algn="bl" rotWithShape="0" blurRad="101600" dist="25400" dir="5400000">
              <a:srgbClr val="000000">
                <a:alpha val="14000"/>
              </a:srgbClr>
            </a:outerShdw>
          </a:effectLst>
        </p:spPr>
      </p:sp>
      <p:sp>
        <p:nvSpPr>
          <p:cNvPr id="8" name="Text 6"/>
          <p:cNvSpPr/>
          <p:nvPr/>
        </p:nvSpPr>
        <p:spPr>
          <a:xfrm>
            <a:off x="658368" y="2103120"/>
            <a:ext cx="2240280" cy="365760"/>
          </a:xfrm>
          <a:prstGeom prst="rect">
            <a:avLst/>
          </a:prstGeom>
          <a:noFill/>
          <a:ln/>
        </p:spPr>
        <p:txBody>
          <a:bodyPr wrap="square" lIns="0" tIns="0" rIns="0" bIns="0" rtlCol="0" anchor="ctr"/>
          <a:lstStyle/>
          <a:p>
            <a:pPr indent="0" marL="0">
              <a:buNone/>
            </a:pPr>
            <a:r>
              <a:rPr lang="en-US" sz="1200" b="1" dirty="0">
                <a:solidFill>
                  <a:srgbClr val="1F4A2C"/>
                </a:solidFill>
                <a:latin typeface="Calibri" pitchFamily="34" charset="0"/>
                <a:ea typeface="Calibri" pitchFamily="34" charset="-122"/>
                <a:cs typeface="Calibri" pitchFamily="34" charset="-120"/>
              </a:rPr>
              <a:t>API access</a:t>
            </a:r>
            <a:endParaRPr lang="en-US" sz="1200" dirty="0"/>
          </a:p>
        </p:txBody>
      </p:sp>
      <p:sp>
        <p:nvSpPr>
          <p:cNvPr id="9" name="Text 7"/>
          <p:cNvSpPr/>
          <p:nvPr/>
        </p:nvSpPr>
        <p:spPr>
          <a:xfrm>
            <a:off x="3017520" y="1975104"/>
            <a:ext cx="4114800" cy="621792"/>
          </a:xfrm>
          <a:prstGeom prst="rect">
            <a:avLst/>
          </a:prstGeom>
          <a:noFill/>
          <a:ln/>
        </p:spPr>
        <p:txBody>
          <a:bodyPr wrap="square" lIns="0" tIns="0" rIns="0" bIns="0" rtlCol="0" anchor="ctr"/>
          <a:lstStyle/>
          <a:p>
            <a:pPr indent="0" marL="0">
              <a:buNone/>
            </a:pPr>
            <a:r>
              <a:rPr lang="en-US" sz="1050" dirty="0">
                <a:solidFill>
                  <a:srgbClr val="5C6154"/>
                </a:solidFill>
                <a:latin typeface="Calibri" pitchFamily="34" charset="0"/>
                <a:ea typeface="Calibri" pitchFamily="34" charset="-122"/>
                <a:cs typeface="Calibri" pitchFamily="34" charset="-120"/>
              </a:rPr>
              <a:t>localhost:5130 hard-coded in 9 places; auth header set by mutating global axios defaults</a:t>
            </a:r>
            <a:endParaRPr lang="en-US" sz="1050" dirty="0"/>
          </a:p>
        </p:txBody>
      </p:sp>
      <p:sp>
        <p:nvSpPr>
          <p:cNvPr id="10" name="Text 8"/>
          <p:cNvSpPr/>
          <p:nvPr/>
        </p:nvSpPr>
        <p:spPr>
          <a:xfrm>
            <a:off x="7315200" y="1975104"/>
            <a:ext cx="4206240" cy="621792"/>
          </a:xfrm>
          <a:prstGeom prst="rect">
            <a:avLst/>
          </a:prstGeom>
          <a:noFill/>
          <a:ln/>
        </p:spPr>
        <p:txBody>
          <a:bodyPr wrap="square" lIns="0" tIns="0" rIns="0" bIns="0" rtlCol="0" anchor="ctr"/>
          <a:lstStyle/>
          <a:p>
            <a:pPr indent="0" marL="0">
              <a:buNone/>
            </a:pPr>
            <a:r>
              <a:rPr lang="en-US" sz="1050" dirty="0">
                <a:solidFill>
                  <a:srgbClr val="24261F"/>
                </a:solidFill>
                <a:latin typeface="Calibri" pitchFamily="34" charset="0"/>
                <a:ea typeface="Calibri" pitchFamily="34" charset="-122"/>
                <a:cs typeface="Calibri" pitchFamily="34" charset="-120"/>
              </a:rPr>
              <a:t>One configurable axios client with request and response interceptors</a:t>
            </a:r>
            <a:endParaRPr lang="en-US" sz="1050" dirty="0"/>
          </a:p>
        </p:txBody>
      </p:sp>
      <p:sp>
        <p:nvSpPr>
          <p:cNvPr id="11" name="Shape 9"/>
          <p:cNvSpPr/>
          <p:nvPr/>
        </p:nvSpPr>
        <p:spPr>
          <a:xfrm>
            <a:off x="548640" y="2779776"/>
            <a:ext cx="11064240" cy="786384"/>
          </a:xfrm>
          <a:prstGeom prst="roundRect">
            <a:avLst>
              <a:gd name="adj" fmla="val 10465"/>
            </a:avLst>
          </a:prstGeom>
          <a:solidFill>
            <a:srgbClr val="FFFFFF"/>
          </a:solidFill>
          <a:ln/>
          <a:effectLst>
            <a:outerShdw sx="100000" sy="100000" kx="0" ky="0" algn="bl" rotWithShape="0" blurRad="101600" dist="25400" dir="5400000">
              <a:srgbClr val="000000">
                <a:alpha val="14000"/>
              </a:srgbClr>
            </a:outerShdw>
          </a:effectLst>
        </p:spPr>
      </p:sp>
      <p:sp>
        <p:nvSpPr>
          <p:cNvPr id="12" name="Text 10"/>
          <p:cNvSpPr/>
          <p:nvPr/>
        </p:nvSpPr>
        <p:spPr>
          <a:xfrm>
            <a:off x="658368" y="2999232"/>
            <a:ext cx="2240280" cy="365760"/>
          </a:xfrm>
          <a:prstGeom prst="rect">
            <a:avLst/>
          </a:prstGeom>
          <a:noFill/>
          <a:ln/>
        </p:spPr>
        <p:txBody>
          <a:bodyPr wrap="square" lIns="0" tIns="0" rIns="0" bIns="0" rtlCol="0" anchor="ctr"/>
          <a:lstStyle/>
          <a:p>
            <a:pPr indent="0" marL="0">
              <a:buNone/>
            </a:pPr>
            <a:r>
              <a:rPr lang="en-US" sz="1200" b="1" dirty="0">
                <a:solidFill>
                  <a:srgbClr val="1F4A2C"/>
                </a:solidFill>
                <a:latin typeface="Calibri" pitchFamily="34" charset="0"/>
                <a:ea typeface="Calibri" pitchFamily="34" charset="-122"/>
                <a:cs typeface="Calibri" pitchFamily="34" charset="-120"/>
              </a:rPr>
              <a:t>Session handling</a:t>
            </a:r>
            <a:endParaRPr lang="en-US" sz="1200" dirty="0"/>
          </a:p>
        </p:txBody>
      </p:sp>
      <p:sp>
        <p:nvSpPr>
          <p:cNvPr id="13" name="Text 11"/>
          <p:cNvSpPr/>
          <p:nvPr/>
        </p:nvSpPr>
        <p:spPr>
          <a:xfrm>
            <a:off x="3017520" y="2871216"/>
            <a:ext cx="4114800" cy="621792"/>
          </a:xfrm>
          <a:prstGeom prst="rect">
            <a:avLst/>
          </a:prstGeom>
          <a:noFill/>
          <a:ln/>
        </p:spPr>
        <p:txBody>
          <a:bodyPr wrap="square" lIns="0" tIns="0" rIns="0" bIns="0" rtlCol="0" anchor="ctr"/>
          <a:lstStyle/>
          <a:p>
            <a:pPr indent="0" marL="0">
              <a:buNone/>
            </a:pPr>
            <a:r>
              <a:rPr lang="en-US" sz="1050" dirty="0">
                <a:solidFill>
                  <a:srgbClr val="5C6154"/>
                </a:solidFill>
                <a:latin typeface="Calibri" pitchFamily="34" charset="0"/>
                <a:ea typeface="Calibri" pitchFamily="34" charset="-122"/>
                <a:cs typeface="Calibri" pitchFamily="34" charset="-120"/>
              </a:rPr>
              <a:t>Any string in localStorage was trusted — an expired token produced a logged-in UI where every request failed</a:t>
            </a:r>
            <a:endParaRPr lang="en-US" sz="1050" dirty="0"/>
          </a:p>
        </p:txBody>
      </p:sp>
      <p:sp>
        <p:nvSpPr>
          <p:cNvPr id="14" name="Text 12"/>
          <p:cNvSpPr/>
          <p:nvPr/>
        </p:nvSpPr>
        <p:spPr>
          <a:xfrm>
            <a:off x="7315200" y="2871216"/>
            <a:ext cx="4206240" cy="621792"/>
          </a:xfrm>
          <a:prstGeom prst="rect">
            <a:avLst/>
          </a:prstGeom>
          <a:noFill/>
          <a:ln/>
        </p:spPr>
        <p:txBody>
          <a:bodyPr wrap="square" lIns="0" tIns="0" rIns="0" bIns="0" rtlCol="0" anchor="ctr"/>
          <a:lstStyle/>
          <a:p>
            <a:pPr indent="0" marL="0">
              <a:buNone/>
            </a:pPr>
            <a:r>
              <a:rPr lang="en-US" sz="1050" dirty="0">
                <a:solidFill>
                  <a:srgbClr val="24261F"/>
                </a:solidFill>
                <a:latin typeface="Calibri" pitchFamily="34" charset="0"/>
                <a:ea typeface="Calibri" pitchFamily="34" charset="-122"/>
                <a:cs typeface="Calibri" pitchFamily="34" charset="-120"/>
              </a:rPr>
              <a:t>Token verified against GET /api/auth/me on load; session ends only on a definitive 401/403/404, never a network blip</a:t>
            </a:r>
            <a:endParaRPr lang="en-US" sz="1050" dirty="0"/>
          </a:p>
        </p:txBody>
      </p:sp>
      <p:sp>
        <p:nvSpPr>
          <p:cNvPr id="15" name="Shape 13"/>
          <p:cNvSpPr/>
          <p:nvPr/>
        </p:nvSpPr>
        <p:spPr>
          <a:xfrm>
            <a:off x="548640" y="3675888"/>
            <a:ext cx="11064240" cy="786384"/>
          </a:xfrm>
          <a:prstGeom prst="roundRect">
            <a:avLst>
              <a:gd name="adj" fmla="val 10465"/>
            </a:avLst>
          </a:prstGeom>
          <a:solidFill>
            <a:srgbClr val="F7F5EF"/>
          </a:solidFill>
          <a:ln/>
          <a:effectLst>
            <a:outerShdw sx="100000" sy="100000" kx="0" ky="0" algn="bl" rotWithShape="0" blurRad="101600" dist="25400" dir="5400000">
              <a:srgbClr val="000000">
                <a:alpha val="14000"/>
              </a:srgbClr>
            </a:outerShdw>
          </a:effectLst>
        </p:spPr>
      </p:sp>
      <p:sp>
        <p:nvSpPr>
          <p:cNvPr id="16" name="Text 14"/>
          <p:cNvSpPr/>
          <p:nvPr/>
        </p:nvSpPr>
        <p:spPr>
          <a:xfrm>
            <a:off x="658368" y="3895344"/>
            <a:ext cx="2240280" cy="365760"/>
          </a:xfrm>
          <a:prstGeom prst="rect">
            <a:avLst/>
          </a:prstGeom>
          <a:noFill/>
          <a:ln/>
        </p:spPr>
        <p:txBody>
          <a:bodyPr wrap="square" lIns="0" tIns="0" rIns="0" bIns="0" rtlCol="0" anchor="ctr"/>
          <a:lstStyle/>
          <a:p>
            <a:pPr indent="0" marL="0">
              <a:buNone/>
            </a:pPr>
            <a:r>
              <a:rPr lang="en-US" sz="1200" b="1" dirty="0">
                <a:solidFill>
                  <a:srgbClr val="1F4A2C"/>
                </a:solidFill>
                <a:latin typeface="Calibri" pitchFamily="34" charset="0"/>
                <a:ea typeface="Calibri" pitchFamily="34" charset="-122"/>
                <a:cs typeface="Calibri" pitchFamily="34" charset="-120"/>
              </a:rPr>
              <a:t>Land search</a:t>
            </a:r>
            <a:endParaRPr lang="en-US" sz="1200" dirty="0"/>
          </a:p>
        </p:txBody>
      </p:sp>
      <p:sp>
        <p:nvSpPr>
          <p:cNvPr id="17" name="Text 15"/>
          <p:cNvSpPr/>
          <p:nvPr/>
        </p:nvSpPr>
        <p:spPr>
          <a:xfrm>
            <a:off x="3017520" y="3767328"/>
            <a:ext cx="4114800" cy="621792"/>
          </a:xfrm>
          <a:prstGeom prst="rect">
            <a:avLst/>
          </a:prstGeom>
          <a:noFill/>
          <a:ln/>
        </p:spPr>
        <p:txBody>
          <a:bodyPr wrap="square" lIns="0" tIns="0" rIns="0" bIns="0" rtlCol="0" anchor="ctr"/>
          <a:lstStyle/>
          <a:p>
            <a:pPr indent="0" marL="0">
              <a:buNone/>
            </a:pPr>
            <a:r>
              <a:rPr lang="en-US" sz="1050" dirty="0">
                <a:solidFill>
                  <a:srgbClr val="5C6154"/>
                </a:solidFill>
                <a:latin typeface="Calibri" pitchFamily="34" charset="0"/>
                <a:ea typeface="Calibri" pitchFamily="34" charset="-122"/>
                <a:cs typeface="Calibri" pitchFamily="34" charset="-120"/>
              </a:rPr>
              <a:t>Filtered a hard-coded mock array in the browser</a:t>
            </a:r>
            <a:endParaRPr lang="en-US" sz="1050" dirty="0"/>
          </a:p>
        </p:txBody>
      </p:sp>
      <p:sp>
        <p:nvSpPr>
          <p:cNvPr id="18" name="Text 16"/>
          <p:cNvSpPr/>
          <p:nvPr/>
        </p:nvSpPr>
        <p:spPr>
          <a:xfrm>
            <a:off x="7315200" y="3767328"/>
            <a:ext cx="4206240" cy="621792"/>
          </a:xfrm>
          <a:prstGeom prst="rect">
            <a:avLst/>
          </a:prstGeom>
          <a:noFill/>
          <a:ln/>
        </p:spPr>
        <p:txBody>
          <a:bodyPr wrap="square" lIns="0" tIns="0" rIns="0" bIns="0" rtlCol="0" anchor="ctr"/>
          <a:lstStyle/>
          <a:p>
            <a:pPr indent="0" marL="0">
              <a:buNone/>
            </a:pPr>
            <a:r>
              <a:rPr lang="en-US" sz="1050" dirty="0">
                <a:solidFill>
                  <a:srgbClr val="24261F"/>
                </a:solidFill>
                <a:latin typeface="Calibri" pitchFamily="34" charset="0"/>
                <a:ea typeface="Calibri" pitchFamily="34" charset="-122"/>
                <a:cs typeface="Calibri" pitchFamily="34" charset="-120"/>
              </a:rPr>
              <a:t>Debounced server-side search through the specification API, with loading, empty and error states</a:t>
            </a:r>
            <a:endParaRPr lang="en-US" sz="1050" dirty="0"/>
          </a:p>
        </p:txBody>
      </p:sp>
      <p:sp>
        <p:nvSpPr>
          <p:cNvPr id="19" name="Shape 17"/>
          <p:cNvSpPr/>
          <p:nvPr/>
        </p:nvSpPr>
        <p:spPr>
          <a:xfrm>
            <a:off x="548640" y="4572000"/>
            <a:ext cx="11064240" cy="786384"/>
          </a:xfrm>
          <a:prstGeom prst="roundRect">
            <a:avLst>
              <a:gd name="adj" fmla="val 10465"/>
            </a:avLst>
          </a:prstGeom>
          <a:solidFill>
            <a:srgbClr val="FFFFFF"/>
          </a:solidFill>
          <a:ln/>
          <a:effectLst>
            <a:outerShdw sx="100000" sy="100000" kx="0" ky="0" algn="bl" rotWithShape="0" blurRad="101600" dist="25400" dir="5400000">
              <a:srgbClr val="000000">
                <a:alpha val="14000"/>
              </a:srgbClr>
            </a:outerShdw>
          </a:effectLst>
        </p:spPr>
      </p:sp>
      <p:sp>
        <p:nvSpPr>
          <p:cNvPr id="20" name="Text 18"/>
          <p:cNvSpPr/>
          <p:nvPr/>
        </p:nvSpPr>
        <p:spPr>
          <a:xfrm>
            <a:off x="658368" y="4791456"/>
            <a:ext cx="2240280" cy="365760"/>
          </a:xfrm>
          <a:prstGeom prst="rect">
            <a:avLst/>
          </a:prstGeom>
          <a:noFill/>
          <a:ln/>
        </p:spPr>
        <p:txBody>
          <a:bodyPr wrap="square" lIns="0" tIns="0" rIns="0" bIns="0" rtlCol="0" anchor="ctr"/>
          <a:lstStyle/>
          <a:p>
            <a:pPr indent="0" marL="0">
              <a:buNone/>
            </a:pPr>
            <a:r>
              <a:rPr lang="en-US" sz="1200" b="1" dirty="0">
                <a:solidFill>
                  <a:srgbClr val="1F4A2C"/>
                </a:solidFill>
                <a:latin typeface="Calibri" pitchFamily="34" charset="0"/>
                <a:ea typeface="Calibri" pitchFamily="34" charset="-122"/>
                <a:cs typeface="Calibri" pitchFamily="34" charset="-120"/>
              </a:rPr>
              <a:t>Saved searches</a:t>
            </a:r>
            <a:endParaRPr lang="en-US" sz="1200" dirty="0"/>
          </a:p>
        </p:txBody>
      </p:sp>
      <p:sp>
        <p:nvSpPr>
          <p:cNvPr id="21" name="Text 19"/>
          <p:cNvSpPr/>
          <p:nvPr/>
        </p:nvSpPr>
        <p:spPr>
          <a:xfrm>
            <a:off x="3017520" y="4663440"/>
            <a:ext cx="4114800" cy="621792"/>
          </a:xfrm>
          <a:prstGeom prst="rect">
            <a:avLst/>
          </a:prstGeom>
          <a:noFill/>
          <a:ln/>
        </p:spPr>
        <p:txBody>
          <a:bodyPr wrap="square" lIns="0" tIns="0" rIns="0" bIns="0" rtlCol="0" anchor="ctr"/>
          <a:lstStyle/>
          <a:p>
            <a:pPr indent="0" marL="0">
              <a:buNone/>
            </a:pPr>
            <a:r>
              <a:rPr lang="en-US" sz="1050" dirty="0">
                <a:solidFill>
                  <a:srgbClr val="5C6154"/>
                </a:solidFill>
                <a:latin typeface="Calibri" pitchFamily="34" charset="0"/>
                <a:ea typeface="Calibri" pitchFamily="34" charset="-122"/>
                <a:cs typeface="Calibri" pitchFamily="34" charset="-120"/>
              </a:rPr>
              <a:t>localStorage only — lost on cache clear, invisible to the server</a:t>
            </a:r>
            <a:endParaRPr lang="en-US" sz="1050" dirty="0"/>
          </a:p>
        </p:txBody>
      </p:sp>
      <p:sp>
        <p:nvSpPr>
          <p:cNvPr id="22" name="Text 20"/>
          <p:cNvSpPr/>
          <p:nvPr/>
        </p:nvSpPr>
        <p:spPr>
          <a:xfrm>
            <a:off x="7315200" y="4663440"/>
            <a:ext cx="4206240" cy="621792"/>
          </a:xfrm>
          <a:prstGeom prst="rect">
            <a:avLst/>
          </a:prstGeom>
          <a:noFill/>
          <a:ln/>
        </p:spPr>
        <p:txBody>
          <a:bodyPr wrap="square" lIns="0" tIns="0" rIns="0" bIns="0" rtlCol="0" anchor="ctr"/>
          <a:lstStyle/>
          <a:p>
            <a:pPr indent="0" marL="0">
              <a:buNone/>
            </a:pPr>
            <a:r>
              <a:rPr lang="en-US" sz="1050" dirty="0">
                <a:solidFill>
                  <a:srgbClr val="24261F"/>
                </a:solidFill>
                <a:latin typeface="Calibri" pitchFamily="34" charset="0"/>
                <a:ea typeface="Calibri" pitchFamily="34" charset="-122"/>
                <a:cs typeface="Calibri" pitchFamily="34" charset="-120"/>
              </a:rPr>
              <a:t>Persisted server-side with an offline cache; makes match notifications possible</a:t>
            </a:r>
            <a:endParaRPr lang="en-US" sz="1050" dirty="0"/>
          </a:p>
        </p:txBody>
      </p:sp>
      <p:sp>
        <p:nvSpPr>
          <p:cNvPr id="23" name="Shape 21"/>
          <p:cNvSpPr/>
          <p:nvPr/>
        </p:nvSpPr>
        <p:spPr>
          <a:xfrm>
            <a:off x="548640" y="5468112"/>
            <a:ext cx="11064240" cy="786384"/>
          </a:xfrm>
          <a:prstGeom prst="roundRect">
            <a:avLst>
              <a:gd name="adj" fmla="val 10465"/>
            </a:avLst>
          </a:prstGeom>
          <a:solidFill>
            <a:srgbClr val="F7F5EF"/>
          </a:solidFill>
          <a:ln/>
          <a:effectLst>
            <a:outerShdw sx="100000" sy="100000" kx="0" ky="0" algn="bl" rotWithShape="0" blurRad="101600" dist="25400" dir="5400000">
              <a:srgbClr val="000000">
                <a:alpha val="14000"/>
              </a:srgbClr>
            </a:outerShdw>
          </a:effectLst>
        </p:spPr>
      </p:sp>
      <p:sp>
        <p:nvSpPr>
          <p:cNvPr id="24" name="Text 22"/>
          <p:cNvSpPr/>
          <p:nvPr/>
        </p:nvSpPr>
        <p:spPr>
          <a:xfrm>
            <a:off x="658368" y="5687568"/>
            <a:ext cx="2240280" cy="365760"/>
          </a:xfrm>
          <a:prstGeom prst="rect">
            <a:avLst/>
          </a:prstGeom>
          <a:noFill/>
          <a:ln/>
        </p:spPr>
        <p:txBody>
          <a:bodyPr wrap="square" lIns="0" tIns="0" rIns="0" bIns="0" rtlCol="0" anchor="ctr"/>
          <a:lstStyle/>
          <a:p>
            <a:pPr indent="0" marL="0">
              <a:buNone/>
            </a:pPr>
            <a:r>
              <a:rPr lang="en-US" sz="1200" b="1" dirty="0">
                <a:solidFill>
                  <a:srgbClr val="1F4A2C"/>
                </a:solidFill>
                <a:latin typeface="Calibri" pitchFamily="34" charset="0"/>
                <a:ea typeface="Calibri" pitchFamily="34" charset="-122"/>
                <a:cs typeface="Calibri" pitchFamily="34" charset="-120"/>
              </a:rPr>
              <a:t>Validation</a:t>
            </a:r>
            <a:endParaRPr lang="en-US" sz="1200" dirty="0"/>
          </a:p>
        </p:txBody>
      </p:sp>
      <p:sp>
        <p:nvSpPr>
          <p:cNvPr id="25" name="Text 23"/>
          <p:cNvSpPr/>
          <p:nvPr/>
        </p:nvSpPr>
        <p:spPr>
          <a:xfrm>
            <a:off x="3017520" y="5559552"/>
            <a:ext cx="4114800" cy="621792"/>
          </a:xfrm>
          <a:prstGeom prst="rect">
            <a:avLst/>
          </a:prstGeom>
          <a:noFill/>
          <a:ln/>
        </p:spPr>
        <p:txBody>
          <a:bodyPr wrap="square" lIns="0" tIns="0" rIns="0" bIns="0" rtlCol="0" anchor="ctr"/>
          <a:lstStyle/>
          <a:p>
            <a:pPr indent="0" marL="0">
              <a:buNone/>
            </a:pPr>
            <a:r>
              <a:rPr lang="en-US" sz="1050" dirty="0">
                <a:solidFill>
                  <a:srgbClr val="5C6154"/>
                </a:solidFill>
                <a:latin typeface="Calibri" pitchFamily="34" charset="0"/>
                <a:ea typeface="Calibri" pitchFamily="34" charset="-122"/>
                <a:cs typeface="Calibri" pitchFamily="34" charset="-120"/>
              </a:rPr>
              <a:t>None</a:t>
            </a:r>
            <a:endParaRPr lang="en-US" sz="1050" dirty="0"/>
          </a:p>
        </p:txBody>
      </p:sp>
      <p:sp>
        <p:nvSpPr>
          <p:cNvPr id="26" name="Text 24"/>
          <p:cNvSpPr/>
          <p:nvPr/>
        </p:nvSpPr>
        <p:spPr>
          <a:xfrm>
            <a:off x="7315200" y="5559552"/>
            <a:ext cx="4206240" cy="621792"/>
          </a:xfrm>
          <a:prstGeom prst="rect">
            <a:avLst/>
          </a:prstGeom>
          <a:noFill/>
          <a:ln/>
        </p:spPr>
        <p:txBody>
          <a:bodyPr wrap="square" lIns="0" tIns="0" rIns="0" bIns="0" rtlCol="0" anchor="ctr"/>
          <a:lstStyle/>
          <a:p>
            <a:pPr indent="0" marL="0">
              <a:buNone/>
            </a:pPr>
            <a:r>
              <a:rPr lang="en-US" sz="1050" dirty="0">
                <a:solidFill>
                  <a:srgbClr val="24261F"/>
                </a:solidFill>
                <a:latin typeface="Calibri" pitchFamily="34" charset="0"/>
                <a:ea typeface="Calibri" pitchFamily="34" charset="-122"/>
                <a:cs typeface="Calibri" pitchFamily="34" charset="-120"/>
              </a:rPr>
              <a:t>Shared module mirroring every backend constraint, with per-field error display</a:t>
            </a:r>
            <a:endParaRPr lang="en-US" sz="1050" dirty="0"/>
          </a:p>
        </p:txBody>
      </p:sp>
      <p:sp>
        <p:nvSpPr>
          <p:cNvPr id="27" name="Text 25"/>
          <p:cNvSpPr/>
          <p:nvPr/>
        </p:nvSpPr>
        <p:spPr>
          <a:xfrm>
            <a:off x="548640" y="6419088"/>
            <a:ext cx="11064240" cy="365760"/>
          </a:xfrm>
          <a:prstGeom prst="rect">
            <a:avLst/>
          </a:prstGeom>
          <a:noFill/>
          <a:ln/>
        </p:spPr>
        <p:txBody>
          <a:bodyPr wrap="square" lIns="0" tIns="0" rIns="0" bIns="0" rtlCol="0" anchor="ctr"/>
          <a:lstStyle/>
          <a:p>
            <a:pPr indent="0" marL="0">
              <a:buNone/>
            </a:pPr>
            <a:r>
              <a:rPr lang="en-US" sz="1150" dirty="0">
                <a:solidFill>
                  <a:srgbClr val="5C6154"/>
                </a:solidFill>
                <a:latin typeface="Calibri" pitchFamily="34" charset="0"/>
                <a:ea typeface="Calibri" pitchFamily="34" charset="-122"/>
                <a:cs typeface="Calibri" pitchFamily="34" charset="-120"/>
              </a:rPr>
              <a:t>All API response shapes were kept byte-compatible, so 20 pages of existing React needed no changes to their rendering logic. Responsive UI, protected routes and English/Hindi/Marathi support carry over intact.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DELIVERABLES</a:t>
            </a:r>
            <a:endParaRPr lang="en-US" sz="1100" dirty="0"/>
          </a:p>
        </p:txBody>
      </p:sp>
      <p:sp>
        <p:nvSpPr>
          <p:cNvPr id="3" name="Text 1"/>
          <p:cNvSpPr/>
          <p:nvPr/>
        </p:nvSpPr>
        <p:spPr>
          <a:xfrm>
            <a:off x="548640" y="658368"/>
            <a:ext cx="11064240" cy="658368"/>
          </a:xfrm>
          <a:prstGeom prst="rect">
            <a:avLst/>
          </a:prstGeom>
          <a:noFill/>
          <a:ln/>
        </p:spPr>
        <p:txBody>
          <a:bodyPr wrap="square" lIns="0" tIns="0" rIns="0" bIns="0" rtlCol="0" anchor="ctr"/>
          <a:lstStyle/>
          <a:p>
            <a:pPr indent="0" marL="0">
              <a:buNone/>
            </a:pPr>
            <a:r>
              <a:rPr lang="en-US" sz="3400" b="1" dirty="0">
                <a:solidFill>
                  <a:srgbClr val="1F4A2C"/>
                </a:solidFill>
                <a:latin typeface="Cambria" pitchFamily="34" charset="0"/>
                <a:ea typeface="Cambria" pitchFamily="34" charset="-122"/>
                <a:cs typeface="Cambria" pitchFamily="34" charset="-120"/>
              </a:rPr>
              <a:t>What ships</a:t>
            </a:r>
            <a:endParaRPr lang="en-US" sz="3400" dirty="0"/>
          </a:p>
        </p:txBody>
      </p:sp>
      <p:sp>
        <p:nvSpPr>
          <p:cNvPr id="4" name="Shape 2"/>
          <p:cNvSpPr/>
          <p:nvPr/>
        </p:nvSpPr>
        <p:spPr>
          <a:xfrm>
            <a:off x="548640" y="1600200"/>
            <a:ext cx="2651760" cy="3749040"/>
          </a:xfrm>
          <a:prstGeom prst="roundRect">
            <a:avLst>
              <a:gd name="adj" fmla="val 3103"/>
            </a:avLst>
          </a:prstGeom>
          <a:solidFill>
            <a:srgbClr val="F7F5EF"/>
          </a:solidFill>
          <a:ln/>
          <a:effectLst>
            <a:outerShdw sx="100000" sy="100000" kx="0" ky="0" algn="bl" rotWithShape="0" blurRad="101600" dist="25400" dir="5400000">
              <a:srgbClr val="000000">
                <a:alpha val="14000"/>
              </a:srgbClr>
            </a:outerShdw>
          </a:effectLst>
        </p:spPr>
      </p:sp>
      <p:sp>
        <p:nvSpPr>
          <p:cNvPr id="5" name="Shape 3"/>
          <p:cNvSpPr/>
          <p:nvPr/>
        </p:nvSpPr>
        <p:spPr>
          <a:xfrm>
            <a:off x="804672" y="1810512"/>
            <a:ext cx="475488" cy="475488"/>
          </a:xfrm>
          <a:prstGeom prst="ellipse">
            <a:avLst/>
          </a:prstGeom>
          <a:solidFill>
            <a:srgbClr val="97BC62"/>
          </a:solidFill>
          <a:ln/>
        </p:spPr>
      </p:sp>
      <p:sp>
        <p:nvSpPr>
          <p:cNvPr id="6" name="Text 4"/>
          <p:cNvSpPr/>
          <p:nvPr/>
        </p:nvSpPr>
        <p:spPr>
          <a:xfrm>
            <a:off x="804672" y="18105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04672" y="2395728"/>
            <a:ext cx="2194560" cy="310896"/>
          </a:xfrm>
          <a:prstGeom prst="rect">
            <a:avLst/>
          </a:prstGeom>
          <a:noFill/>
          <a:ln/>
        </p:spPr>
        <p:txBody>
          <a:bodyPr wrap="square" lIns="0" tIns="0" rIns="0" bIns="0" rtlCol="0" anchor="ctr"/>
          <a:lstStyle/>
          <a:p>
            <a:pPr indent="0" marL="0">
              <a:buNone/>
            </a:pPr>
            <a:r>
              <a:rPr lang="en-US" sz="1500" b="1" dirty="0">
                <a:solidFill>
                  <a:srgbClr val="1F4A2C"/>
                </a:solidFill>
                <a:latin typeface="Calibri" pitchFamily="34" charset="0"/>
                <a:ea typeface="Calibri" pitchFamily="34" charset="-122"/>
                <a:cs typeface="Calibri" pitchFamily="34" charset="-120"/>
              </a:rPr>
              <a:t>Code</a:t>
            </a:r>
            <a:endParaRPr lang="en-US" sz="1500" dirty="0"/>
          </a:p>
        </p:txBody>
      </p:sp>
      <p:sp>
        <p:nvSpPr>
          <p:cNvPr id="8" name="Text 6"/>
          <p:cNvSpPr/>
          <p:nvPr/>
        </p:nvSpPr>
        <p:spPr>
          <a:xfrm>
            <a:off x="804672" y="2788920"/>
            <a:ext cx="2194560" cy="237744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7 Maven modules, Java 17</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Parameterised Dockerfile</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docker compose up — full stack</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Health-gated startup ordering</a:t>
            </a:r>
            <a:endParaRPr lang="en-US" sz="1100" dirty="0"/>
          </a:p>
        </p:txBody>
      </p:sp>
      <p:sp>
        <p:nvSpPr>
          <p:cNvPr id="9" name="Shape 7"/>
          <p:cNvSpPr/>
          <p:nvPr/>
        </p:nvSpPr>
        <p:spPr>
          <a:xfrm>
            <a:off x="3374136" y="1600200"/>
            <a:ext cx="2651760" cy="3749040"/>
          </a:xfrm>
          <a:prstGeom prst="roundRect">
            <a:avLst>
              <a:gd name="adj" fmla="val 3103"/>
            </a:avLst>
          </a:prstGeom>
          <a:solidFill>
            <a:srgbClr val="F7F5EF"/>
          </a:solidFill>
          <a:ln/>
          <a:effectLst>
            <a:outerShdw sx="100000" sy="100000" kx="0" ky="0" algn="bl" rotWithShape="0" blurRad="101600" dist="25400" dir="5400000">
              <a:srgbClr val="000000">
                <a:alpha val="14000"/>
              </a:srgbClr>
            </a:outerShdw>
          </a:effectLst>
        </p:spPr>
      </p:sp>
      <p:sp>
        <p:nvSpPr>
          <p:cNvPr id="10" name="Shape 8"/>
          <p:cNvSpPr/>
          <p:nvPr/>
        </p:nvSpPr>
        <p:spPr>
          <a:xfrm>
            <a:off x="3630168" y="1810512"/>
            <a:ext cx="475488" cy="475488"/>
          </a:xfrm>
          <a:prstGeom prst="ellipse">
            <a:avLst/>
          </a:prstGeom>
          <a:solidFill>
            <a:srgbClr val="97BC62"/>
          </a:solidFill>
          <a:ln/>
        </p:spPr>
      </p:sp>
      <p:sp>
        <p:nvSpPr>
          <p:cNvPr id="11" name="Text 9"/>
          <p:cNvSpPr/>
          <p:nvPr/>
        </p:nvSpPr>
        <p:spPr>
          <a:xfrm>
            <a:off x="3630168" y="18105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3630168" y="2395728"/>
            <a:ext cx="2194560" cy="310896"/>
          </a:xfrm>
          <a:prstGeom prst="rect">
            <a:avLst/>
          </a:prstGeom>
          <a:noFill/>
          <a:ln/>
        </p:spPr>
        <p:txBody>
          <a:bodyPr wrap="square" lIns="0" tIns="0" rIns="0" bIns="0" rtlCol="0" anchor="ctr"/>
          <a:lstStyle/>
          <a:p>
            <a:pPr indent="0" marL="0">
              <a:buNone/>
            </a:pPr>
            <a:r>
              <a:rPr lang="en-US" sz="1500" b="1" dirty="0">
                <a:solidFill>
                  <a:srgbClr val="1F4A2C"/>
                </a:solidFill>
                <a:latin typeface="Calibri" pitchFamily="34" charset="0"/>
                <a:ea typeface="Calibri" pitchFamily="34" charset="-122"/>
                <a:cs typeface="Calibri" pitchFamily="34" charset="-120"/>
              </a:rPr>
              <a:t>Documentation</a:t>
            </a:r>
            <a:endParaRPr lang="en-US" sz="1500" dirty="0"/>
          </a:p>
        </p:txBody>
      </p:sp>
      <p:sp>
        <p:nvSpPr>
          <p:cNvPr id="13" name="Text 11"/>
          <p:cNvSpPr/>
          <p:nvPr/>
        </p:nvSpPr>
        <p:spPr>
          <a:xfrm>
            <a:off x="3630168" y="2788920"/>
            <a:ext cx="2194560" cy="237744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README with setup and troubleshooting</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SRS — 90+ numbered requirements</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ER diagram with DDL and rationale</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Architecture and deployment guides</a:t>
            </a:r>
            <a:endParaRPr lang="en-US" sz="1100" dirty="0"/>
          </a:p>
        </p:txBody>
      </p:sp>
      <p:sp>
        <p:nvSpPr>
          <p:cNvPr id="14" name="Shape 12"/>
          <p:cNvSpPr/>
          <p:nvPr/>
        </p:nvSpPr>
        <p:spPr>
          <a:xfrm>
            <a:off x="6199632" y="1600200"/>
            <a:ext cx="2651760" cy="3749040"/>
          </a:xfrm>
          <a:prstGeom prst="roundRect">
            <a:avLst>
              <a:gd name="adj" fmla="val 3103"/>
            </a:avLst>
          </a:prstGeom>
          <a:solidFill>
            <a:srgbClr val="F7F5EF"/>
          </a:solidFill>
          <a:ln/>
          <a:effectLst>
            <a:outerShdw sx="100000" sy="100000" kx="0" ky="0" algn="bl" rotWithShape="0" blurRad="101600" dist="25400" dir="5400000">
              <a:srgbClr val="000000">
                <a:alpha val="14000"/>
              </a:srgbClr>
            </a:outerShdw>
          </a:effectLst>
        </p:spPr>
      </p:sp>
      <p:sp>
        <p:nvSpPr>
          <p:cNvPr id="15" name="Shape 13"/>
          <p:cNvSpPr/>
          <p:nvPr/>
        </p:nvSpPr>
        <p:spPr>
          <a:xfrm>
            <a:off x="6455664" y="1810512"/>
            <a:ext cx="475488" cy="475488"/>
          </a:xfrm>
          <a:prstGeom prst="ellipse">
            <a:avLst/>
          </a:prstGeom>
          <a:solidFill>
            <a:srgbClr val="97BC62"/>
          </a:solidFill>
          <a:ln/>
        </p:spPr>
      </p:sp>
      <p:sp>
        <p:nvSpPr>
          <p:cNvPr id="16" name="Text 14"/>
          <p:cNvSpPr/>
          <p:nvPr/>
        </p:nvSpPr>
        <p:spPr>
          <a:xfrm>
            <a:off x="6455664" y="18105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6455664" y="2395728"/>
            <a:ext cx="2194560" cy="310896"/>
          </a:xfrm>
          <a:prstGeom prst="rect">
            <a:avLst/>
          </a:prstGeom>
          <a:noFill/>
          <a:ln/>
        </p:spPr>
        <p:txBody>
          <a:bodyPr wrap="square" lIns="0" tIns="0" rIns="0" bIns="0" rtlCol="0" anchor="ctr"/>
          <a:lstStyle/>
          <a:p>
            <a:pPr indent="0" marL="0">
              <a:buNone/>
            </a:pPr>
            <a:r>
              <a:rPr lang="en-US" sz="1500" b="1" dirty="0">
                <a:solidFill>
                  <a:srgbClr val="1F4A2C"/>
                </a:solidFill>
                <a:latin typeface="Calibri" pitchFamily="34" charset="0"/>
                <a:ea typeface="Calibri" pitchFamily="34" charset="-122"/>
                <a:cs typeface="Calibri" pitchFamily="34" charset="-120"/>
              </a:rPr>
              <a:t>API</a:t>
            </a:r>
            <a:endParaRPr lang="en-US" sz="1500" dirty="0"/>
          </a:p>
        </p:txBody>
      </p:sp>
      <p:sp>
        <p:nvSpPr>
          <p:cNvPr id="18" name="Text 16"/>
          <p:cNvSpPr/>
          <p:nvPr/>
        </p:nvSpPr>
        <p:spPr>
          <a:xfrm>
            <a:off x="6455664" y="2788920"/>
            <a:ext cx="2194560" cy="237744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OpenAPI 3 on every endpoint</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Aggregated Swagger UI at the gateway</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Uniform error schema</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Bearer auth pre-configured</a:t>
            </a:r>
            <a:endParaRPr lang="en-US" sz="1100" dirty="0"/>
          </a:p>
        </p:txBody>
      </p:sp>
      <p:sp>
        <p:nvSpPr>
          <p:cNvPr id="19" name="Shape 17"/>
          <p:cNvSpPr/>
          <p:nvPr/>
        </p:nvSpPr>
        <p:spPr>
          <a:xfrm>
            <a:off x="9025128" y="1600200"/>
            <a:ext cx="2651760" cy="3749040"/>
          </a:xfrm>
          <a:prstGeom prst="roundRect">
            <a:avLst>
              <a:gd name="adj" fmla="val 3103"/>
            </a:avLst>
          </a:prstGeom>
          <a:solidFill>
            <a:srgbClr val="FBEDE7"/>
          </a:solidFill>
          <a:ln/>
          <a:effectLst>
            <a:outerShdw sx="100000" sy="100000" kx="0" ky="0" algn="bl" rotWithShape="0" blurRad="101600" dist="25400" dir="5400000">
              <a:srgbClr val="000000">
                <a:alpha val="14000"/>
              </a:srgbClr>
            </a:outerShdw>
          </a:effectLst>
        </p:spPr>
      </p:sp>
      <p:sp>
        <p:nvSpPr>
          <p:cNvPr id="20" name="Shape 18"/>
          <p:cNvSpPr/>
          <p:nvPr/>
        </p:nvSpPr>
        <p:spPr>
          <a:xfrm>
            <a:off x="9281160" y="1810512"/>
            <a:ext cx="475488" cy="475488"/>
          </a:xfrm>
          <a:prstGeom prst="ellipse">
            <a:avLst/>
          </a:prstGeom>
          <a:solidFill>
            <a:srgbClr val="C1502E"/>
          </a:solidFill>
          <a:ln/>
        </p:spPr>
      </p:sp>
      <p:sp>
        <p:nvSpPr>
          <p:cNvPr id="21" name="Text 19"/>
          <p:cNvSpPr/>
          <p:nvPr/>
        </p:nvSpPr>
        <p:spPr>
          <a:xfrm>
            <a:off x="9281160" y="18105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9281160" y="2395728"/>
            <a:ext cx="2194560" cy="310896"/>
          </a:xfrm>
          <a:prstGeom prst="rect">
            <a:avLst/>
          </a:prstGeom>
          <a:noFill/>
          <a:ln/>
        </p:spPr>
        <p:txBody>
          <a:bodyPr wrap="square" lIns="0" tIns="0" rIns="0" bIns="0" rtlCol="0" anchor="ctr"/>
          <a:lstStyle/>
          <a:p>
            <a:pPr indent="0" marL="0">
              <a:buNone/>
            </a:pPr>
            <a:r>
              <a:rPr lang="en-US" sz="1500" b="1" dirty="0">
                <a:solidFill>
                  <a:srgbClr val="1F4A2C"/>
                </a:solidFill>
                <a:latin typeface="Calibri" pitchFamily="34" charset="0"/>
                <a:ea typeface="Calibri" pitchFamily="34" charset="-122"/>
                <a:cs typeface="Calibri" pitchFamily="34" charset="-120"/>
              </a:rPr>
              <a:t>Your hands</a:t>
            </a:r>
            <a:endParaRPr lang="en-US" sz="1500" dirty="0"/>
          </a:p>
        </p:txBody>
      </p:sp>
      <p:sp>
        <p:nvSpPr>
          <p:cNvPr id="23" name="Text 21"/>
          <p:cNvSpPr/>
          <p:nvPr/>
        </p:nvSpPr>
        <p:spPr>
          <a:xfrm>
            <a:off x="9281160" y="2788920"/>
            <a:ext cx="2194560" cy="237744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git push to GitHub</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AWS deploy — EC2 or ECS Fargate</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Security checklist before going public</a:t>
            </a:r>
            <a:endParaRPr lang="en-US" sz="1100" dirty="0"/>
          </a:p>
          <a:p>
            <a:pPr marL="342900" indent="-342900">
              <a:spcAft>
                <a:spcPts val="900"/>
              </a:spcAft>
              <a:buSzPct val="100000"/>
              <a:buChar char="•"/>
            </a:pPr>
            <a:r>
              <a:rPr lang="en-US" sz="1100" dirty="0">
                <a:solidFill>
                  <a:srgbClr val="24261F"/>
                </a:solidFill>
                <a:latin typeface="Calibri" pitchFamily="34" charset="0"/>
                <a:ea typeface="Calibri" pitchFamily="34" charset="-122"/>
                <a:cs typeface="Calibri" pitchFamily="34" charset="-120"/>
              </a:rPr>
              <a:t>mvn clean install to verify the build</a:t>
            </a:r>
            <a:endParaRPr lang="en-US" sz="1100" dirty="0"/>
          </a:p>
        </p:txBody>
      </p:sp>
      <p:sp>
        <p:nvSpPr>
          <p:cNvPr id="24" name="Shape 22"/>
          <p:cNvSpPr/>
          <p:nvPr/>
        </p:nvSpPr>
        <p:spPr>
          <a:xfrm>
            <a:off x="548640" y="5532120"/>
            <a:ext cx="11064240" cy="868680"/>
          </a:xfrm>
          <a:prstGeom prst="roundRect">
            <a:avLst>
              <a:gd name="adj" fmla="val 9474"/>
            </a:avLst>
          </a:prstGeom>
          <a:solidFill>
            <a:srgbClr val="E8F0DA"/>
          </a:solidFill>
          <a:ln/>
          <a:effectLst>
            <a:outerShdw sx="100000" sy="100000" kx="0" ky="0" algn="bl" rotWithShape="0" blurRad="101600" dist="25400" dir="5400000">
              <a:srgbClr val="000000">
                <a:alpha val="14000"/>
              </a:srgbClr>
            </a:outerShdw>
          </a:effectLst>
        </p:spPr>
      </p:sp>
      <p:sp>
        <p:nvSpPr>
          <p:cNvPr id="25" name="Text 23"/>
          <p:cNvSpPr/>
          <p:nvPr/>
        </p:nvSpPr>
        <p:spPr>
          <a:xfrm>
            <a:off x="868680" y="5705856"/>
            <a:ext cx="10424160" cy="548640"/>
          </a:xfrm>
          <a:prstGeom prst="rect">
            <a:avLst/>
          </a:prstGeom>
          <a:noFill/>
          <a:ln/>
        </p:spPr>
        <p:txBody>
          <a:bodyPr wrap="square" lIns="0" tIns="0" rIns="0" bIns="0" rtlCol="0" anchor="ctr"/>
          <a:lstStyle/>
          <a:p>
            <a:pPr indent="0" marL="0">
              <a:buNone/>
            </a:pPr>
            <a:r>
              <a:rPr lang="en-US" sz="1250" dirty="0">
                <a:solidFill>
                  <a:srgbClr val="24261F"/>
                </a:solidFill>
                <a:latin typeface="Calibri" pitchFamily="34" charset="0"/>
                <a:ea typeface="Calibri" pitchFamily="34" charset="-122"/>
                <a:cs typeface="Calibri" pitchFamily="34" charset="-120"/>
              </a:rPr>
              <a:t>End-to-end proof the bus works:  register a user, then read GET /api/notifications. The welcome notification exists only because auth-service published user.registered and notification-service consumed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301C"/>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100" b="1" spc="250" kern="0" dirty="0">
                <a:solidFill>
                  <a:srgbClr val="97BC62"/>
                </a:solidFill>
                <a:latin typeface="Calibri" pitchFamily="34" charset="0"/>
                <a:ea typeface="Calibri" pitchFamily="34" charset="-122"/>
                <a:cs typeface="Calibri" pitchFamily="34" charset="-120"/>
              </a:rPr>
              <a:t>KNOWN LIMITATIONS</a:t>
            </a:r>
            <a:endParaRPr lang="en-US" sz="11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is still wrong, documented rather than hidden</a:t>
            </a:r>
            <a:endParaRPr lang="en-US" sz="3000" dirty="0"/>
          </a:p>
        </p:txBody>
      </p:sp>
      <p:sp>
        <p:nvSpPr>
          <p:cNvPr id="4" name="Shape 2"/>
          <p:cNvSpPr/>
          <p:nvPr/>
        </p:nvSpPr>
        <p:spPr>
          <a:xfrm>
            <a:off x="640080" y="1627632"/>
            <a:ext cx="10881360" cy="1234440"/>
          </a:xfrm>
          <a:prstGeom prst="roundRect">
            <a:avLst>
              <a:gd name="adj" fmla="val 7407"/>
            </a:avLst>
          </a:prstGeom>
          <a:solidFill>
            <a:srgbClr val="C1502E"/>
          </a:solidFill>
          <a:ln/>
        </p:spPr>
      </p:sp>
      <p:sp>
        <p:nvSpPr>
          <p:cNvPr id="5" name="Text 3"/>
          <p:cNvSpPr/>
          <p:nvPr/>
        </p:nvSpPr>
        <p:spPr>
          <a:xfrm>
            <a:off x="960120" y="1792224"/>
            <a:ext cx="7315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Must fix before any public deployment</a:t>
            </a:r>
            <a:endParaRPr lang="en-US" sz="1400" dirty="0"/>
          </a:p>
        </p:txBody>
      </p:sp>
      <p:sp>
        <p:nvSpPr>
          <p:cNvPr id="6" name="Text 4"/>
          <p:cNvSpPr/>
          <p:nvPr/>
        </p:nvSpPr>
        <p:spPr>
          <a:xfrm>
            <a:off x="960120" y="2121408"/>
            <a:ext cx="10241280" cy="685800"/>
          </a:xfrm>
          <a:prstGeom prst="rect">
            <a:avLst/>
          </a:prstGeom>
          <a:noFill/>
          <a:ln/>
        </p:spPr>
        <p:txBody>
          <a:bodyPr wrap="square" lIns="0" tIns="0" rIns="0" bIns="0" rtlCol="0" anchor="ctr"/>
          <a:lstStyle/>
          <a:p>
            <a:pPr indent="0" marL="0">
              <a:buNone/>
            </a:pPr>
            <a:r>
              <a:rPr lang="en-US" sz="1250" dirty="0">
                <a:solidFill>
                  <a:srgbClr val="FDEDE7"/>
                </a:solidFill>
                <a:latin typeface="Calibri" pitchFamily="34" charset="0"/>
                <a:ea typeface="Calibri" pitchFamily="34" charset="-122"/>
                <a:cs typeface="Calibri" pitchFamily="34" charset="-120"/>
              </a:rPr>
              <a:t>POST /api/auth/reset-password performs no ownership verification — knowing an email address is enough to take over that account. Carried over from the original for feature parity, and flagged in the README, the OpenAPI description and the DTO Javadoc. It needs an emailed single-use token.</a:t>
            </a:r>
            <a:endParaRPr lang="en-US" sz="1250" dirty="0"/>
          </a:p>
        </p:txBody>
      </p:sp>
      <p:sp>
        <p:nvSpPr>
          <p:cNvPr id="7" name="Shape 5"/>
          <p:cNvSpPr/>
          <p:nvPr/>
        </p:nvSpPr>
        <p:spPr>
          <a:xfrm>
            <a:off x="640080" y="3108960"/>
            <a:ext cx="5303520" cy="896112"/>
          </a:xfrm>
          <a:prstGeom prst="roundRect">
            <a:avLst>
              <a:gd name="adj" fmla="val 8163"/>
            </a:avLst>
          </a:prstGeom>
          <a:solidFill>
            <a:srgbClr val="1F4A2C"/>
          </a:solidFill>
          <a:ln/>
        </p:spPr>
      </p:sp>
      <p:sp>
        <p:nvSpPr>
          <p:cNvPr id="8" name="Text 6"/>
          <p:cNvSpPr/>
          <p:nvPr/>
        </p:nvSpPr>
        <p:spPr>
          <a:xfrm>
            <a:off x="896112" y="3209544"/>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Symmetric HS256</a:t>
            </a:r>
            <a:endParaRPr lang="en-US" sz="1250" dirty="0"/>
          </a:p>
        </p:txBody>
      </p:sp>
      <p:sp>
        <p:nvSpPr>
          <p:cNvPr id="9" name="Text 7"/>
          <p:cNvSpPr/>
          <p:nvPr/>
        </p:nvSpPr>
        <p:spPr>
          <a:xfrm>
            <a:off x="896112" y="3465576"/>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Every service can mint tokens, not just validate them. RS256 with a private key held only by auth-service would be stronger.</a:t>
            </a:r>
            <a:endParaRPr lang="en-US" sz="1050" dirty="0"/>
          </a:p>
        </p:txBody>
      </p:sp>
      <p:sp>
        <p:nvSpPr>
          <p:cNvPr id="10" name="Shape 8"/>
          <p:cNvSpPr/>
          <p:nvPr/>
        </p:nvSpPr>
        <p:spPr>
          <a:xfrm>
            <a:off x="6217920" y="3108960"/>
            <a:ext cx="5303520" cy="896112"/>
          </a:xfrm>
          <a:prstGeom prst="roundRect">
            <a:avLst>
              <a:gd name="adj" fmla="val 8163"/>
            </a:avLst>
          </a:prstGeom>
          <a:solidFill>
            <a:srgbClr val="1F4A2C"/>
          </a:solidFill>
          <a:ln/>
        </p:spPr>
      </p:sp>
      <p:sp>
        <p:nvSpPr>
          <p:cNvPr id="11" name="Text 9"/>
          <p:cNvSpPr/>
          <p:nvPr/>
        </p:nvSpPr>
        <p:spPr>
          <a:xfrm>
            <a:off x="6473952" y="3209544"/>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7-day tokens, no revocation</a:t>
            </a:r>
            <a:endParaRPr lang="en-US" sz="1250" dirty="0"/>
          </a:p>
        </p:txBody>
      </p:sp>
      <p:sp>
        <p:nvSpPr>
          <p:cNvPr id="12" name="Text 10"/>
          <p:cNvSpPr/>
          <p:nvPr/>
        </p:nvSpPr>
        <p:spPr>
          <a:xfrm>
            <a:off x="6473952" y="3465576"/>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A leaked token stays valid for a week. Short access tokens plus refresh tokens would fix it.</a:t>
            </a:r>
            <a:endParaRPr lang="en-US" sz="1050" dirty="0"/>
          </a:p>
        </p:txBody>
      </p:sp>
      <p:sp>
        <p:nvSpPr>
          <p:cNvPr id="13" name="Shape 11"/>
          <p:cNvSpPr/>
          <p:nvPr/>
        </p:nvSpPr>
        <p:spPr>
          <a:xfrm>
            <a:off x="640080" y="4133088"/>
            <a:ext cx="5303520" cy="896112"/>
          </a:xfrm>
          <a:prstGeom prst="roundRect">
            <a:avLst>
              <a:gd name="adj" fmla="val 8163"/>
            </a:avLst>
          </a:prstGeom>
          <a:solidFill>
            <a:srgbClr val="1F4A2C"/>
          </a:solidFill>
          <a:ln/>
        </p:spPr>
      </p:sp>
      <p:sp>
        <p:nvSpPr>
          <p:cNvPr id="14" name="Text 12"/>
          <p:cNvSpPr/>
          <p:nvPr/>
        </p:nvSpPr>
        <p:spPr>
          <a:xfrm>
            <a:off x="896112" y="4233672"/>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Tokens in localStorage</a:t>
            </a:r>
            <a:endParaRPr lang="en-US" sz="1250" dirty="0"/>
          </a:p>
        </p:txBody>
      </p:sp>
      <p:sp>
        <p:nvSpPr>
          <p:cNvPr id="15" name="Text 13"/>
          <p:cNvSpPr/>
          <p:nvPr/>
        </p:nvSpPr>
        <p:spPr>
          <a:xfrm>
            <a:off x="896112" y="4489704"/>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Readable by any XSS. httpOnly cookies plus CSRF protection would be stronger.</a:t>
            </a:r>
            <a:endParaRPr lang="en-US" sz="1050" dirty="0"/>
          </a:p>
        </p:txBody>
      </p:sp>
      <p:sp>
        <p:nvSpPr>
          <p:cNvPr id="16" name="Shape 14"/>
          <p:cNvSpPr/>
          <p:nvPr/>
        </p:nvSpPr>
        <p:spPr>
          <a:xfrm>
            <a:off x="6217920" y="4133088"/>
            <a:ext cx="5303520" cy="896112"/>
          </a:xfrm>
          <a:prstGeom prst="roundRect">
            <a:avLst>
              <a:gd name="adj" fmla="val 8163"/>
            </a:avLst>
          </a:prstGeom>
          <a:solidFill>
            <a:srgbClr val="1F4A2C"/>
          </a:solidFill>
          <a:ln/>
        </p:spPr>
      </p:sp>
      <p:sp>
        <p:nvSpPr>
          <p:cNvPr id="17" name="Text 15"/>
          <p:cNvSpPr/>
          <p:nvPr/>
        </p:nvSpPr>
        <p:spPr>
          <a:xfrm>
            <a:off x="6473952" y="4233672"/>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ddl-auto=update</a:t>
            </a:r>
            <a:endParaRPr lang="en-US" sz="1250" dirty="0"/>
          </a:p>
        </p:txBody>
      </p:sp>
      <p:sp>
        <p:nvSpPr>
          <p:cNvPr id="18" name="Text 16"/>
          <p:cNvSpPr/>
          <p:nvPr/>
        </p:nvSpPr>
        <p:spPr>
          <a:xfrm>
            <a:off x="6473952" y="4489704"/>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Zero-setup first run, but no migration history. Flyway before production.</a:t>
            </a:r>
            <a:endParaRPr lang="en-US" sz="1050" dirty="0"/>
          </a:p>
        </p:txBody>
      </p:sp>
      <p:sp>
        <p:nvSpPr>
          <p:cNvPr id="19" name="Shape 17"/>
          <p:cNvSpPr/>
          <p:nvPr/>
        </p:nvSpPr>
        <p:spPr>
          <a:xfrm>
            <a:off x="640080" y="5157216"/>
            <a:ext cx="5303520" cy="896112"/>
          </a:xfrm>
          <a:prstGeom prst="roundRect">
            <a:avLst>
              <a:gd name="adj" fmla="val 8163"/>
            </a:avLst>
          </a:prstGeom>
          <a:solidFill>
            <a:srgbClr val="1F4A2C"/>
          </a:solidFill>
          <a:ln/>
        </p:spPr>
      </p:sp>
      <p:sp>
        <p:nvSpPr>
          <p:cNvPr id="20" name="Text 18"/>
          <p:cNvSpPr/>
          <p:nvPr/>
        </p:nvSpPr>
        <p:spPr>
          <a:xfrm>
            <a:off x="896112" y="5257800"/>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No rate limiting</a:t>
            </a:r>
            <a:endParaRPr lang="en-US" sz="1250" dirty="0"/>
          </a:p>
        </p:txBody>
      </p:sp>
      <p:sp>
        <p:nvSpPr>
          <p:cNvPr id="21" name="Text 19"/>
          <p:cNvSpPr/>
          <p:nvPr/>
        </p:nvSpPr>
        <p:spPr>
          <a:xfrm>
            <a:off x="896112" y="5513832"/>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Login and reset endpoints are unthrottled. Gateway RequestRateLimiter or a WAF.</a:t>
            </a:r>
            <a:endParaRPr lang="en-US" sz="1050" dirty="0"/>
          </a:p>
        </p:txBody>
      </p:sp>
      <p:sp>
        <p:nvSpPr>
          <p:cNvPr id="22" name="Shape 20"/>
          <p:cNvSpPr/>
          <p:nvPr/>
        </p:nvSpPr>
        <p:spPr>
          <a:xfrm>
            <a:off x="6217920" y="5157216"/>
            <a:ext cx="5303520" cy="896112"/>
          </a:xfrm>
          <a:prstGeom prst="roundRect">
            <a:avLst>
              <a:gd name="adj" fmla="val 8163"/>
            </a:avLst>
          </a:prstGeom>
          <a:solidFill>
            <a:srgbClr val="1F4A2C"/>
          </a:solidFill>
          <a:ln/>
        </p:spPr>
      </p:sp>
      <p:sp>
        <p:nvSpPr>
          <p:cNvPr id="23" name="Text 21"/>
          <p:cNvSpPr/>
          <p:nvPr/>
        </p:nvSpPr>
        <p:spPr>
          <a:xfrm>
            <a:off x="6473952" y="5257800"/>
            <a:ext cx="4754880" cy="256032"/>
          </a:xfrm>
          <a:prstGeom prst="rect">
            <a:avLst/>
          </a:prstGeom>
          <a:noFill/>
          <a:ln/>
        </p:spPr>
        <p:txBody>
          <a:bodyPr wrap="square" lIns="0" tIns="0" rIns="0" bIns="0"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Unit tests only</a:t>
            </a:r>
            <a:endParaRPr lang="en-US" sz="1250" dirty="0"/>
          </a:p>
        </p:txBody>
      </p:sp>
      <p:sp>
        <p:nvSpPr>
          <p:cNvPr id="24" name="Text 22"/>
          <p:cNvSpPr/>
          <p:nvPr/>
        </p:nvSpPr>
        <p:spPr>
          <a:xfrm>
            <a:off x="6473952" y="5513832"/>
            <a:ext cx="4800600" cy="475488"/>
          </a:xfrm>
          <a:prstGeom prst="rect">
            <a:avLst/>
          </a:prstGeom>
          <a:noFill/>
          <a:ln/>
        </p:spPr>
        <p:txBody>
          <a:bodyPr wrap="square" lIns="0" tIns="0" rIns="0" bIns="0" rtlCol="0" anchor="ctr"/>
          <a:lstStyle/>
          <a:p>
            <a:pPr indent="0" marL="0">
              <a:buNone/>
            </a:pPr>
            <a:r>
              <a:rPr lang="en-US" sz="1050" dirty="0">
                <a:solidFill>
                  <a:srgbClr val="DCE6CC"/>
                </a:solidFill>
                <a:latin typeface="Calibri" pitchFamily="34" charset="0"/>
                <a:ea typeface="Calibri" pitchFamily="34" charset="-122"/>
                <a:cs typeface="Calibri" pitchFamily="34" charset="-120"/>
              </a:rPr>
              <a:t>No integration or contract tests. Testcontainers would strengthen coverage meaningfully.</a:t>
            </a:r>
            <a:endParaRPr lang="en-US" sz="1050" dirty="0"/>
          </a:p>
        </p:txBody>
      </p:sp>
      <p:sp>
        <p:nvSpPr>
          <p:cNvPr id="25" name="Text 23"/>
          <p:cNvSpPr/>
          <p:nvPr/>
        </p:nvSpPr>
        <p:spPr>
          <a:xfrm>
            <a:off x="640080" y="6309360"/>
            <a:ext cx="10881360" cy="411480"/>
          </a:xfrm>
          <a:prstGeom prst="rect">
            <a:avLst/>
          </a:prstGeom>
          <a:noFill/>
          <a:ln/>
        </p:spPr>
        <p:txBody>
          <a:bodyPr wrap="square" lIns="0" tIns="0" rIns="0" bIns="0" rtlCol="0" anchor="ctr"/>
          <a:lstStyle/>
          <a:p>
            <a:pPr indent="0" marL="0">
              <a:buNone/>
            </a:pPr>
            <a:r>
              <a:rPr lang="en-US" sz="1250" i="1" dirty="0">
                <a:solidFill>
                  <a:srgbClr val="E8F0DA"/>
                </a:solidFill>
                <a:latin typeface="Cambria" pitchFamily="34" charset="0"/>
                <a:ea typeface="Cambria" pitchFamily="34" charset="-122"/>
                <a:cs typeface="Cambria" pitchFamily="34" charset="-120"/>
              </a:rPr>
              <a:t>The scoring weights are informed heuristics, not a model fitted to observed borewell outcomes. Presented as decision support for ranking parcels — never as a prediction to a farmer deciding whether to pay for drilling.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301C"/>
        </a:solidFill>
      </p:bgPr>
    </p:bg>
    <p:spTree>
      <p:nvGrpSpPr>
        <p:cNvPr id="1" name=""/>
        <p:cNvGrpSpPr/>
        <p:nvPr/>
      </p:nvGrpSpPr>
      <p:grpSpPr>
        <a:xfrm>
          <a:off x="0" y="0"/>
          <a:ext cx="0" cy="0"/>
          <a:chOff x="0" y="0"/>
          <a:chExt cx="0" cy="0"/>
        </a:xfrm>
      </p:grpSpPr>
      <p:sp>
        <p:nvSpPr>
          <p:cNvPr id="2" name="Shape 0"/>
          <p:cNvSpPr/>
          <p:nvPr/>
        </p:nvSpPr>
        <p:spPr>
          <a:xfrm>
            <a:off x="-1828800" y="3108960"/>
            <a:ext cx="6035040" cy="6035040"/>
          </a:xfrm>
          <a:prstGeom prst="ellipse">
            <a:avLst/>
          </a:prstGeom>
          <a:solidFill>
            <a:srgbClr val="1F4A2C">
              <a:alpha val="60000"/>
            </a:srgbClr>
          </a:solidFill>
          <a:ln/>
        </p:spPr>
      </p:sp>
      <p:sp>
        <p:nvSpPr>
          <p:cNvPr id="3" name="Shape 1"/>
          <p:cNvSpPr/>
          <p:nvPr/>
        </p:nvSpPr>
        <p:spPr>
          <a:xfrm>
            <a:off x="9326880" y="-1280160"/>
            <a:ext cx="4572000" cy="4572000"/>
          </a:xfrm>
          <a:prstGeom prst="ellipse">
            <a:avLst/>
          </a:prstGeom>
          <a:solidFill>
            <a:srgbClr val="97BC62">
              <a:alpha val="20000"/>
            </a:srgbClr>
          </a:solidFill>
          <a:ln/>
        </p:spPr>
      </p:sp>
      <p:sp>
        <p:nvSpPr>
          <p:cNvPr id="4" name="Text 2"/>
          <p:cNvSpPr/>
          <p:nvPr/>
        </p:nvSpPr>
        <p:spPr>
          <a:xfrm>
            <a:off x="822960" y="1371600"/>
            <a:ext cx="8229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it stands</a:t>
            </a:r>
            <a:endParaRPr lang="en-US" sz="4000" dirty="0"/>
          </a:p>
        </p:txBody>
      </p:sp>
      <p:sp>
        <p:nvSpPr>
          <p:cNvPr id="5" name="Shape 3"/>
          <p:cNvSpPr/>
          <p:nvPr/>
        </p:nvSpPr>
        <p:spPr>
          <a:xfrm>
            <a:off x="822960" y="2505456"/>
            <a:ext cx="274320" cy="274320"/>
          </a:xfrm>
          <a:prstGeom prst="ellipse">
            <a:avLst/>
          </a:prstGeom>
          <a:solidFill>
            <a:srgbClr val="97BC62"/>
          </a:solidFill>
          <a:ln/>
        </p:spPr>
      </p:sp>
      <p:sp>
        <p:nvSpPr>
          <p:cNvPr id="6" name="Text 4"/>
          <p:cNvSpPr/>
          <p:nvPr/>
        </p:nvSpPr>
        <p:spPr>
          <a:xfrm>
            <a:off x="1298448" y="2450592"/>
            <a:ext cx="1920240" cy="329184"/>
          </a:xfrm>
          <a:prstGeom prst="rect">
            <a:avLst/>
          </a:prstGeom>
          <a:noFill/>
          <a:ln/>
        </p:spPr>
        <p:txBody>
          <a:bodyPr wrap="square" lIns="0" tIns="0" rIns="0" bIns="0"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Delivered</a:t>
            </a:r>
            <a:endParaRPr lang="en-US" sz="1400" dirty="0"/>
          </a:p>
        </p:txBody>
      </p:sp>
      <p:sp>
        <p:nvSpPr>
          <p:cNvPr id="7" name="Text 5"/>
          <p:cNvSpPr/>
          <p:nvPr/>
        </p:nvSpPr>
        <p:spPr>
          <a:xfrm>
            <a:off x="3291840" y="2432304"/>
            <a:ext cx="8046720" cy="640080"/>
          </a:xfrm>
          <a:prstGeom prst="rect">
            <a:avLst/>
          </a:prstGeom>
          <a:noFill/>
          <a:ln/>
        </p:spPr>
        <p:txBody>
          <a:bodyPr wrap="square" lIns="0" tIns="0" rIns="0" bIns="0" rtlCol="0" anchor="ctr"/>
          <a:lstStyle/>
          <a:p>
            <a:pPr indent="0" marL="0">
              <a:buNone/>
            </a:pPr>
            <a:r>
              <a:rPr lang="en-US" sz="1300" dirty="0">
                <a:solidFill>
                  <a:srgbClr val="E3EBD6"/>
                </a:solidFill>
                <a:latin typeface="Calibri" pitchFamily="34" charset="0"/>
                <a:ea typeface="Calibri" pitchFamily="34" charset="-122"/>
                <a:cs typeface="Calibri" pitchFamily="34" charset="-120"/>
              </a:rPr>
              <a:t>Six services, two database engines, six domain events, eight test classes, full container stack and five documents</a:t>
            </a:r>
            <a:endParaRPr lang="en-US" sz="1300" dirty="0"/>
          </a:p>
        </p:txBody>
      </p:sp>
      <p:sp>
        <p:nvSpPr>
          <p:cNvPr id="8" name="Shape 6"/>
          <p:cNvSpPr/>
          <p:nvPr/>
        </p:nvSpPr>
        <p:spPr>
          <a:xfrm>
            <a:off x="822960" y="3364992"/>
            <a:ext cx="274320" cy="274320"/>
          </a:xfrm>
          <a:prstGeom prst="ellipse">
            <a:avLst/>
          </a:prstGeom>
          <a:solidFill>
            <a:srgbClr val="97BC62"/>
          </a:solidFill>
          <a:ln/>
        </p:spPr>
      </p:sp>
      <p:sp>
        <p:nvSpPr>
          <p:cNvPr id="9" name="Text 7"/>
          <p:cNvSpPr/>
          <p:nvPr/>
        </p:nvSpPr>
        <p:spPr>
          <a:xfrm>
            <a:off x="1298448" y="3310128"/>
            <a:ext cx="1920240" cy="329184"/>
          </a:xfrm>
          <a:prstGeom prst="rect">
            <a:avLst/>
          </a:prstGeom>
          <a:noFill/>
          <a:ln/>
        </p:spPr>
        <p:txBody>
          <a:bodyPr wrap="square" lIns="0" tIns="0" rIns="0" bIns="0"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Preserved</a:t>
            </a:r>
            <a:endParaRPr lang="en-US" sz="1400" dirty="0"/>
          </a:p>
        </p:txBody>
      </p:sp>
      <p:sp>
        <p:nvSpPr>
          <p:cNvPr id="10" name="Text 8"/>
          <p:cNvSpPr/>
          <p:nvPr/>
        </p:nvSpPr>
        <p:spPr>
          <a:xfrm>
            <a:off x="3291840" y="3291840"/>
            <a:ext cx="8046720" cy="640080"/>
          </a:xfrm>
          <a:prstGeom prst="rect">
            <a:avLst/>
          </a:prstGeom>
          <a:noFill/>
          <a:ln/>
        </p:spPr>
        <p:txBody>
          <a:bodyPr wrap="square" lIns="0" tIns="0" rIns="0" bIns="0" rtlCol="0" anchor="ctr"/>
          <a:lstStyle/>
          <a:p>
            <a:pPr indent="0" marL="0">
              <a:buNone/>
            </a:pPr>
            <a:r>
              <a:rPr lang="en-US" sz="1300" dirty="0">
                <a:solidFill>
                  <a:srgbClr val="E3EBD6"/>
                </a:solidFill>
                <a:latin typeface="Calibri" pitchFamily="34" charset="0"/>
                <a:ea typeface="Calibri" pitchFamily="34" charset="-122"/>
                <a:cs typeface="Calibri" pitchFamily="34" charset="-120"/>
              </a:rPr>
              <a:t>Every API response shape, so 20 pages of existing React run unchanged</a:t>
            </a:r>
            <a:endParaRPr lang="en-US" sz="1300" dirty="0"/>
          </a:p>
        </p:txBody>
      </p:sp>
      <p:sp>
        <p:nvSpPr>
          <p:cNvPr id="11" name="Shape 9"/>
          <p:cNvSpPr/>
          <p:nvPr/>
        </p:nvSpPr>
        <p:spPr>
          <a:xfrm>
            <a:off x="822960" y="4224528"/>
            <a:ext cx="274320" cy="274320"/>
          </a:xfrm>
          <a:prstGeom prst="ellipse">
            <a:avLst/>
          </a:prstGeom>
          <a:solidFill>
            <a:srgbClr val="97BC62"/>
          </a:solidFill>
          <a:ln/>
        </p:spPr>
      </p:sp>
      <p:sp>
        <p:nvSpPr>
          <p:cNvPr id="12" name="Text 10"/>
          <p:cNvSpPr/>
          <p:nvPr/>
        </p:nvSpPr>
        <p:spPr>
          <a:xfrm>
            <a:off x="1298448" y="4169664"/>
            <a:ext cx="1920240" cy="329184"/>
          </a:xfrm>
          <a:prstGeom prst="rect">
            <a:avLst/>
          </a:prstGeom>
          <a:noFill/>
          <a:ln/>
        </p:spPr>
        <p:txBody>
          <a:bodyPr wrap="square" lIns="0" tIns="0" rIns="0" bIns="0"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Improved</a:t>
            </a:r>
            <a:endParaRPr lang="en-US" sz="1400" dirty="0"/>
          </a:p>
        </p:txBody>
      </p:sp>
      <p:sp>
        <p:nvSpPr>
          <p:cNvPr id="13" name="Text 11"/>
          <p:cNvSpPr/>
          <p:nvPr/>
        </p:nvSpPr>
        <p:spPr>
          <a:xfrm>
            <a:off x="3291840" y="4151376"/>
            <a:ext cx="8046720" cy="640080"/>
          </a:xfrm>
          <a:prstGeom prst="rect">
            <a:avLst/>
          </a:prstGeom>
          <a:noFill/>
          <a:ln/>
        </p:spPr>
        <p:txBody>
          <a:bodyPr wrap="square" lIns="0" tIns="0" rIns="0" bIns="0" rtlCol="0" anchor="ctr"/>
          <a:lstStyle/>
          <a:p>
            <a:pPr indent="0" marL="0">
              <a:buNone/>
            </a:pPr>
            <a:r>
              <a:rPr lang="en-US" sz="1300" dirty="0">
                <a:solidFill>
                  <a:srgbClr val="E3EBD6"/>
                </a:solidFill>
                <a:latin typeface="Calibri" pitchFamily="34" charset="0"/>
                <a:ea typeface="Calibri" pitchFamily="34" charset="-122"/>
                <a:cs typeface="Calibri" pitchFamily="34" charset="-120"/>
              </a:rPr>
              <a:t>Schema normalised, scoring model made auditable, validation and authorization added where there was none</a:t>
            </a:r>
            <a:endParaRPr lang="en-US" sz="1300" dirty="0"/>
          </a:p>
        </p:txBody>
      </p:sp>
      <p:sp>
        <p:nvSpPr>
          <p:cNvPr id="14" name="Shape 12"/>
          <p:cNvSpPr/>
          <p:nvPr/>
        </p:nvSpPr>
        <p:spPr>
          <a:xfrm>
            <a:off x="822960" y="5084064"/>
            <a:ext cx="274320" cy="274320"/>
          </a:xfrm>
          <a:prstGeom prst="ellipse">
            <a:avLst/>
          </a:prstGeom>
          <a:solidFill>
            <a:srgbClr val="97BC62"/>
          </a:solidFill>
          <a:ln/>
        </p:spPr>
      </p:sp>
      <p:sp>
        <p:nvSpPr>
          <p:cNvPr id="15" name="Text 13"/>
          <p:cNvSpPr/>
          <p:nvPr/>
        </p:nvSpPr>
        <p:spPr>
          <a:xfrm>
            <a:off x="1298448" y="5029200"/>
            <a:ext cx="1920240" cy="329184"/>
          </a:xfrm>
          <a:prstGeom prst="rect">
            <a:avLst/>
          </a:prstGeom>
          <a:noFill/>
          <a:ln/>
        </p:spPr>
        <p:txBody>
          <a:bodyPr wrap="square" lIns="0" tIns="0" rIns="0" bIns="0"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Outstanding</a:t>
            </a:r>
            <a:endParaRPr lang="en-US" sz="1400" dirty="0"/>
          </a:p>
        </p:txBody>
      </p:sp>
      <p:sp>
        <p:nvSpPr>
          <p:cNvPr id="16" name="Text 14"/>
          <p:cNvSpPr/>
          <p:nvPr/>
        </p:nvSpPr>
        <p:spPr>
          <a:xfrm>
            <a:off x="3291840" y="5010912"/>
            <a:ext cx="8046720" cy="640080"/>
          </a:xfrm>
          <a:prstGeom prst="rect">
            <a:avLst/>
          </a:prstGeom>
          <a:noFill/>
          <a:ln/>
        </p:spPr>
        <p:txBody>
          <a:bodyPr wrap="square" lIns="0" tIns="0" rIns="0" bIns="0" rtlCol="0" anchor="ctr"/>
          <a:lstStyle/>
          <a:p>
            <a:pPr indent="0" marL="0">
              <a:buNone/>
            </a:pPr>
            <a:r>
              <a:rPr lang="en-US" sz="1300" dirty="0">
                <a:solidFill>
                  <a:srgbClr val="E3EBD6"/>
                </a:solidFill>
                <a:latin typeface="Calibri" pitchFamily="34" charset="0"/>
                <a:ea typeface="Calibri" pitchFamily="34" charset="-122"/>
                <a:cs typeface="Calibri" pitchFamily="34" charset="-120"/>
              </a:rPr>
              <a:t>Verify the build with mvn clean install, then push to GitHub and deploy</a:t>
            </a:r>
            <a:endParaRPr lang="en-US" sz="1300" dirty="0"/>
          </a:p>
        </p:txBody>
      </p:sp>
      <p:sp>
        <p:nvSpPr>
          <p:cNvPr id="17" name="Text 15"/>
          <p:cNvSpPr/>
          <p:nvPr/>
        </p:nvSpPr>
        <p:spPr>
          <a:xfrm>
            <a:off x="822960" y="6035040"/>
            <a:ext cx="10515600" cy="365760"/>
          </a:xfrm>
          <a:prstGeom prst="rect">
            <a:avLst/>
          </a:prstGeom>
          <a:noFill/>
          <a:ln/>
        </p:spPr>
        <p:txBody>
          <a:bodyPr wrap="square" lIns="0" tIns="0" rIns="0" bIns="0" rtlCol="0" anchor="ctr"/>
          <a:lstStyle/>
          <a:p>
            <a:pPr indent="0" marL="0">
              <a:buNone/>
            </a:pPr>
            <a:r>
              <a:rPr lang="en-US" sz="1100" dirty="0">
                <a:solidFill>
                  <a:srgbClr val="8FA179"/>
                </a:solidFill>
                <a:latin typeface="Calibri" pitchFamily="34" charset="0"/>
                <a:ea typeface="Calibri" pitchFamily="34" charset="-122"/>
                <a:cs typeface="Calibri" pitchFamily="34" charset="-120"/>
              </a:rPr>
              <a:t>EarthScan Bharat  ·  Spring Boot 3.3  ·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EarthScan Bharat — Spring Boot Microservices Migration</dc:title>
  <dc:subject>PptxGenJS Presentation</dc:subject>
  <dc:creator>EarthScan Bharat Team</dc:creator>
  <cp:lastModifiedBy>EarthScan Bharat Team</cp:lastModifiedBy>
  <cp:revision>1</cp:revision>
  <dcterms:created xsi:type="dcterms:W3CDTF">2026-07-29T04:02:14Z</dcterms:created>
  <dcterms:modified xsi:type="dcterms:W3CDTF">2026-07-29T04:02:14Z</dcterms:modified>
</cp:coreProperties>
</file>